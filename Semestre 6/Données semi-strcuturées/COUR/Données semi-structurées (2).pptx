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37864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431475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652727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F873E1A9-1036-4D5D-B5A5-5E65A46CEA9E}" type="datetimeFigureOut">
              <a:rPr lang="fr-FR" smtClean="0"/>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858389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F873E1A9-1036-4D5D-B5A5-5E65A46CEA9E}" type="datetimeFigureOut">
              <a:rPr lang="fr-FR" smtClean="0"/>
              <a:t>14/05/2024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336847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F873E1A9-1036-4D5D-B5A5-5E65A46CEA9E}" type="datetimeFigureOut">
              <a:rPr lang="fr-FR" smtClean="0"/>
              <a:t>14/05/2024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2777983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873E1A9-1036-4D5D-B5A5-5E65A46CEA9E}" type="datetimeFigureOut">
              <a:rPr lang="fr-FR" smtClean="0"/>
              <a:t>14/05/2024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58494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F873E1A9-1036-4D5D-B5A5-5E65A46CEA9E}" type="datetimeFigureOut">
              <a:rPr lang="fr-FR" smtClean="0"/>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3816296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F873E1A9-1036-4D5D-B5A5-5E65A46CEA9E}" type="datetimeFigureOut">
              <a:rPr lang="fr-FR" smtClean="0"/>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371363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104949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6991BDF-702B-4B28-949F-E7D1D173E7A8}" type="slidenum">
              <a:rPr lang="fr-FR" smtClean="0"/>
              <a:t>‹N°›</a:t>
            </a:fld>
            <a:endParaRPr lang="fr-FR"/>
          </a:p>
        </p:txBody>
      </p:sp>
    </p:spTree>
    <p:extLst>
      <p:ext uri="{BB962C8B-B14F-4D97-AF65-F5344CB8AC3E}">
        <p14:creationId xmlns:p14="http://schemas.microsoft.com/office/powerpoint/2010/main" val="2623792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73E1A9-1036-4D5D-B5A5-5E65A46CEA9E}" type="datetimeFigureOut">
              <a:rPr lang="fr-FR" smtClean="0"/>
              <a:t>14/05/2024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91BDF-702B-4B28-949F-E7D1D173E7A8}" type="slidenum">
              <a:rPr lang="fr-FR" smtClean="0"/>
              <a:t>‹N°›</a:t>
            </a:fld>
            <a:endParaRPr lang="fr-FR"/>
          </a:p>
        </p:txBody>
      </p:sp>
    </p:spTree>
    <p:extLst>
      <p:ext uri="{BB962C8B-B14F-4D97-AF65-F5344CB8AC3E}">
        <p14:creationId xmlns:p14="http://schemas.microsoft.com/office/powerpoint/2010/main" val="2868004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gchagnon.fr/cours/xml/schema.html#introschem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a:t>Données semi-structurées</a:t>
            </a:r>
          </a:p>
        </p:txBody>
      </p:sp>
    </p:spTree>
    <p:extLst>
      <p:ext uri="{BB962C8B-B14F-4D97-AF65-F5344CB8AC3E}">
        <p14:creationId xmlns:p14="http://schemas.microsoft.com/office/powerpoint/2010/main" val="1314039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(1)</a:t>
            </a:r>
          </a:p>
        </p:txBody>
      </p:sp>
      <p:sp>
        <p:nvSpPr>
          <p:cNvPr id="3" name="Espace réservé du contenu 2"/>
          <p:cNvSpPr>
            <a:spLocks noGrp="1"/>
          </p:cNvSpPr>
          <p:nvPr>
            <p:ph idx="1"/>
          </p:nvPr>
        </p:nvSpPr>
        <p:spPr/>
        <p:txBody>
          <a:bodyPr>
            <a:normAutofit lnSpcReduction="10000"/>
          </a:bodyPr>
          <a:lstStyle/>
          <a:p>
            <a:r>
              <a:rPr lang="fr-FR" dirty="0"/>
              <a:t>XML : nouveau standard adopté par le World Wide Web Consortium (W3C) comme complément de HTML permettant un échange aisé de données de sur le  web.</a:t>
            </a:r>
          </a:p>
          <a:p>
            <a:pPr marL="400050" lvl="1" indent="0">
              <a:buNone/>
            </a:pPr>
            <a:r>
              <a:rPr lang="fr-FR" dirty="0"/>
              <a:t>• Le but principal de XML n’est pas de décrire un format de texte, mais de </a:t>
            </a:r>
            <a:r>
              <a:rPr lang="fr-FR" b="1" dirty="0"/>
              <a:t>structurer</a:t>
            </a:r>
            <a:r>
              <a:rPr lang="fr-FR" dirty="0"/>
              <a:t> logiquement un contenu.</a:t>
            </a:r>
          </a:p>
          <a:p>
            <a:pPr marL="400050" lvl="1" indent="0">
              <a:buNone/>
            </a:pPr>
            <a:r>
              <a:rPr lang="fr-FR" dirty="0"/>
              <a:t>• Les balises ont le rôle de </a:t>
            </a:r>
            <a:r>
              <a:rPr lang="fr-FR" b="1" dirty="0"/>
              <a:t>classer des données </a:t>
            </a:r>
            <a:r>
              <a:rPr lang="fr-FR" dirty="0"/>
              <a:t>selon une hiérarchie </a:t>
            </a:r>
            <a:r>
              <a:rPr lang="fr-FR" b="1" dirty="0"/>
              <a:t>définie par l’auteur</a:t>
            </a:r>
            <a:r>
              <a:rPr lang="fr-FR" dirty="0"/>
              <a:t> du document XML.</a:t>
            </a:r>
          </a:p>
          <a:p>
            <a:pPr marL="0" indent="0">
              <a:buNone/>
            </a:pPr>
            <a:endParaRPr lang="fr-FR" dirty="0"/>
          </a:p>
        </p:txBody>
      </p:sp>
    </p:spTree>
    <p:extLst>
      <p:ext uri="{BB962C8B-B14F-4D97-AF65-F5344CB8AC3E}">
        <p14:creationId xmlns:p14="http://schemas.microsoft.com/office/powerpoint/2010/main" val="3387243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(2)</a:t>
            </a:r>
          </a:p>
        </p:txBody>
      </p:sp>
      <p:sp>
        <p:nvSpPr>
          <p:cNvPr id="3" name="Espace réservé du contenu 2"/>
          <p:cNvSpPr>
            <a:spLocks noGrp="1"/>
          </p:cNvSpPr>
          <p:nvPr>
            <p:ph idx="1"/>
          </p:nvPr>
        </p:nvSpPr>
        <p:spPr/>
        <p:txBody>
          <a:bodyPr>
            <a:normAutofit fontScale="92500"/>
          </a:bodyPr>
          <a:lstStyle/>
          <a:p>
            <a:r>
              <a:rPr lang="fr-FR" dirty="0"/>
              <a:t>Avec XML, la mise en forme textuelle est effectué dans une feuille de style, un document séparé qui associe des formes de présentations (texte en gras, en italique, centré, etc.) aux balises. Des feuilles différentes permettent des formatages différents du même document.</a:t>
            </a:r>
          </a:p>
          <a:p>
            <a:pPr marL="0" indent="0">
              <a:buNone/>
            </a:pPr>
            <a:r>
              <a:rPr lang="fr-FR" dirty="0"/>
              <a:t>• Des outils permettent de convertir un document XML en HTML, afin de pouvoir afficher une page web.</a:t>
            </a:r>
          </a:p>
          <a:p>
            <a:pPr marL="0" indent="0">
              <a:buNone/>
            </a:pPr>
            <a:endParaRPr lang="fr-FR" dirty="0"/>
          </a:p>
        </p:txBody>
      </p:sp>
    </p:spTree>
    <p:extLst>
      <p:ext uri="{BB962C8B-B14F-4D97-AF65-F5344CB8AC3E}">
        <p14:creationId xmlns:p14="http://schemas.microsoft.com/office/powerpoint/2010/main" val="2712285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(3)</a:t>
            </a:r>
          </a:p>
        </p:txBody>
      </p:sp>
      <p:sp>
        <p:nvSpPr>
          <p:cNvPr id="3" name="Espace réservé du contenu 2"/>
          <p:cNvSpPr>
            <a:spLocks noGrp="1"/>
          </p:cNvSpPr>
          <p:nvPr>
            <p:ph idx="1"/>
          </p:nvPr>
        </p:nvSpPr>
        <p:spPr/>
        <p:txBody>
          <a:bodyPr>
            <a:normAutofit fontScale="70000" lnSpcReduction="20000"/>
          </a:bodyPr>
          <a:lstStyle/>
          <a:p>
            <a:pPr marL="0" indent="0">
              <a:buNone/>
            </a:pPr>
            <a:r>
              <a:rPr lang="fr-FR" b="1" u="sng" dirty="0" err="1"/>
              <a:t>Example</a:t>
            </a:r>
            <a:r>
              <a:rPr lang="fr-FR" b="1" u="sng" dirty="0"/>
              <a:t> 2 Un petit document XML</a:t>
            </a:r>
          </a:p>
          <a:p>
            <a:pPr marL="0" indent="0">
              <a:buNone/>
            </a:pPr>
            <a:r>
              <a:rPr lang="fr-FR" dirty="0"/>
              <a:t>&lt;?</a:t>
            </a:r>
            <a:r>
              <a:rPr lang="fr-FR" dirty="0" err="1"/>
              <a:t>xml</a:t>
            </a:r>
            <a:r>
              <a:rPr lang="fr-FR" dirty="0"/>
              <a:t> version=’’1.0 </a:t>
            </a:r>
            <a:r>
              <a:rPr lang="fr-FR" dirty="0" err="1"/>
              <a:t>encoding</a:t>
            </a:r>
            <a:r>
              <a:rPr lang="fr-FR" dirty="0"/>
              <a:t>=’’iso-8859-1’’?&gt;</a:t>
            </a:r>
          </a:p>
          <a:p>
            <a:pPr marL="0" indent="0">
              <a:buNone/>
            </a:pPr>
            <a:r>
              <a:rPr lang="fr-FR" dirty="0"/>
              <a:t>&lt;communication </a:t>
            </a:r>
            <a:r>
              <a:rPr lang="fr-FR" dirty="0" err="1"/>
              <a:t>prior</a:t>
            </a:r>
            <a:r>
              <a:rPr lang="fr-FR" dirty="0"/>
              <a:t>=’’important’’&gt;</a:t>
            </a:r>
          </a:p>
          <a:p>
            <a:pPr marL="0" indent="0">
              <a:buNone/>
            </a:pPr>
            <a:r>
              <a:rPr lang="fr-FR" dirty="0"/>
              <a:t>&lt;pour&gt; Virginie &lt;/pour&gt;</a:t>
            </a:r>
          </a:p>
          <a:p>
            <a:pPr marL="0" indent="0">
              <a:buNone/>
            </a:pPr>
            <a:r>
              <a:rPr lang="fr-FR" dirty="0"/>
              <a:t>&lt;sujet&gt; Rappel &lt;/sujet&gt;</a:t>
            </a:r>
          </a:p>
          <a:p>
            <a:pPr marL="0" indent="0">
              <a:buNone/>
            </a:pPr>
            <a:r>
              <a:rPr lang="fr-FR" dirty="0"/>
              <a:t>&lt;message&gt; N’oublie pas de lire l’article</a:t>
            </a:r>
          </a:p>
          <a:p>
            <a:pPr marL="0" indent="0">
              <a:buNone/>
            </a:pPr>
            <a:r>
              <a:rPr lang="fr-FR" dirty="0"/>
              <a:t>&lt;lire&gt; Lutz et al. 2002. &lt;/lire&gt;</a:t>
            </a:r>
          </a:p>
          <a:p>
            <a:pPr marL="0" indent="0">
              <a:buNone/>
            </a:pPr>
            <a:r>
              <a:rPr lang="fr-FR" dirty="0"/>
              <a:t>Il faut bien comprendre</a:t>
            </a:r>
          </a:p>
          <a:p>
            <a:pPr marL="0" indent="0">
              <a:buNone/>
            </a:pPr>
            <a:r>
              <a:rPr lang="fr-FR" dirty="0"/>
              <a:t>&lt;</a:t>
            </a:r>
            <a:r>
              <a:rPr lang="fr-FR" dirty="0" err="1"/>
              <a:t>reflechir</a:t>
            </a:r>
            <a:r>
              <a:rPr lang="fr-FR" dirty="0"/>
              <a:t>&gt; la preuve de terminaison. &lt;/</a:t>
            </a:r>
            <a:r>
              <a:rPr lang="fr-FR" dirty="0" err="1"/>
              <a:t>reflechir</a:t>
            </a:r>
            <a:r>
              <a:rPr lang="fr-FR" dirty="0"/>
              <a:t>&gt;</a:t>
            </a:r>
          </a:p>
          <a:p>
            <a:pPr marL="0" indent="0">
              <a:buNone/>
            </a:pPr>
            <a:r>
              <a:rPr lang="fr-FR" dirty="0"/>
              <a:t>Rendez-vous &lt;date&gt; mercredi &lt;/date&gt; &lt;lieu&gt; dans mon bureau &lt;/lieu&gt;</a:t>
            </a:r>
          </a:p>
          <a:p>
            <a:pPr marL="0" indent="0">
              <a:buNone/>
            </a:pPr>
            <a:r>
              <a:rPr lang="fr-FR" dirty="0"/>
              <a:t>&lt;/message&gt;</a:t>
            </a:r>
          </a:p>
          <a:p>
            <a:pPr marL="0" indent="0">
              <a:buNone/>
            </a:pPr>
            <a:r>
              <a:rPr lang="fr-FR" dirty="0"/>
              <a:t>&lt;signature&gt; Serena &lt;/signature&gt;</a:t>
            </a:r>
          </a:p>
          <a:p>
            <a:pPr marL="0" indent="0">
              <a:buNone/>
            </a:pPr>
            <a:r>
              <a:rPr lang="fr-FR" dirty="0"/>
              <a:t>&lt;/communication&gt;</a:t>
            </a:r>
          </a:p>
          <a:p>
            <a:pPr marL="0" indent="0">
              <a:buNone/>
            </a:pPr>
            <a:endParaRPr lang="fr-FR" dirty="0"/>
          </a:p>
        </p:txBody>
      </p:sp>
    </p:spTree>
    <p:extLst>
      <p:ext uri="{BB962C8B-B14F-4D97-AF65-F5344CB8AC3E}">
        <p14:creationId xmlns:p14="http://schemas.microsoft.com/office/powerpoint/2010/main" val="382180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(4)</a:t>
            </a:r>
            <a:endParaRPr lang="fr-FR"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FR" b="1" u="sng" dirty="0"/>
              <a:t>Suite de </a:t>
            </a:r>
            <a:r>
              <a:rPr lang="fr-FR" b="1" u="sng" dirty="0" err="1"/>
              <a:t>léxemple</a:t>
            </a:r>
            <a:endParaRPr lang="fr-FR" b="1" u="sng" dirty="0"/>
          </a:p>
          <a:p>
            <a:pPr marL="0" indent="0">
              <a:buNone/>
            </a:pPr>
            <a:r>
              <a:rPr lang="fr-FR" dirty="0"/>
              <a:t>Résultat de la mise en forme grâce à une feuille de style :</a:t>
            </a:r>
          </a:p>
          <a:p>
            <a:pPr marL="0" indent="0">
              <a:buNone/>
            </a:pPr>
            <a:r>
              <a:rPr lang="fr-FR" dirty="0"/>
              <a:t>Priorité : important</a:t>
            </a:r>
          </a:p>
          <a:p>
            <a:pPr marL="0" indent="0">
              <a:buNone/>
            </a:pPr>
            <a:r>
              <a:rPr lang="fr-FR" dirty="0"/>
              <a:t>Pour : Virginie</a:t>
            </a:r>
          </a:p>
          <a:p>
            <a:pPr marL="0" indent="0">
              <a:buNone/>
            </a:pPr>
            <a:r>
              <a:rPr lang="fr-FR" dirty="0"/>
              <a:t>Sujet : Rappel</a:t>
            </a:r>
          </a:p>
          <a:p>
            <a:pPr marL="0" indent="0">
              <a:buNone/>
            </a:pPr>
            <a:r>
              <a:rPr lang="fr-FR" dirty="0"/>
              <a:t>N’oublie pas de lire l’article </a:t>
            </a:r>
            <a:r>
              <a:rPr lang="fr-FR" i="1" dirty="0"/>
              <a:t>Lutz et al. 2002</a:t>
            </a:r>
            <a:r>
              <a:rPr lang="fr-FR" dirty="0"/>
              <a:t>. Il faut bien comprendre </a:t>
            </a:r>
            <a:r>
              <a:rPr lang="fr-FR" b="1" dirty="0"/>
              <a:t>la preuve de terminaison</a:t>
            </a:r>
            <a:r>
              <a:rPr lang="fr-FR" dirty="0"/>
              <a:t>. Rendez-vous </a:t>
            </a:r>
            <a:r>
              <a:rPr lang="fr-FR" b="1" dirty="0"/>
              <a:t>mercredi</a:t>
            </a:r>
            <a:r>
              <a:rPr lang="fr-FR" dirty="0"/>
              <a:t> </a:t>
            </a:r>
            <a:r>
              <a:rPr lang="fr-FR" i="1" dirty="0"/>
              <a:t>dans mon bureau</a:t>
            </a:r>
          </a:p>
          <a:p>
            <a:pPr marL="0" indent="0" algn="r">
              <a:buNone/>
            </a:pPr>
            <a:r>
              <a:rPr lang="fr-FR" dirty="0"/>
              <a:t>Serena</a:t>
            </a:r>
          </a:p>
          <a:p>
            <a:pPr marL="0" indent="0">
              <a:buNone/>
            </a:pPr>
            <a:endParaRPr lang="fr-FR" dirty="0"/>
          </a:p>
        </p:txBody>
      </p:sp>
    </p:spTree>
    <p:extLst>
      <p:ext uri="{BB962C8B-B14F-4D97-AF65-F5344CB8AC3E}">
        <p14:creationId xmlns:p14="http://schemas.microsoft.com/office/powerpoint/2010/main" val="422679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(5)</a:t>
            </a:r>
            <a:endParaRPr lang="fr-FR"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FR" b="1" u="sng" dirty="0"/>
              <a:t>Suite de </a:t>
            </a:r>
            <a:r>
              <a:rPr lang="fr-FR" b="1" u="sng" dirty="0" err="1"/>
              <a:t>léxemple</a:t>
            </a:r>
            <a:endParaRPr lang="fr-FR" b="1" u="sng" dirty="0"/>
          </a:p>
          <a:p>
            <a:pPr marL="0" indent="0">
              <a:buNone/>
            </a:pPr>
            <a:r>
              <a:rPr lang="fr-FR" dirty="0"/>
              <a:t>Résultat de la mise en forme avec une autre feuille de style :</a:t>
            </a:r>
          </a:p>
          <a:p>
            <a:pPr marL="0" indent="0">
              <a:buNone/>
            </a:pPr>
            <a:r>
              <a:rPr lang="fr-FR" dirty="0"/>
              <a:t>Priorité : IMPORTANT</a:t>
            </a:r>
          </a:p>
          <a:p>
            <a:pPr marL="0" indent="0">
              <a:buNone/>
            </a:pPr>
            <a:r>
              <a:rPr lang="fr-FR" dirty="0"/>
              <a:t>Pour : VIRGINIE</a:t>
            </a:r>
          </a:p>
          <a:p>
            <a:pPr marL="0" indent="0" algn="r">
              <a:buNone/>
            </a:pPr>
            <a:r>
              <a:rPr lang="fr-FR" dirty="0"/>
              <a:t>Sujet : RAPPEL</a:t>
            </a:r>
          </a:p>
          <a:p>
            <a:pPr marL="0" indent="0">
              <a:buNone/>
            </a:pPr>
            <a:r>
              <a:rPr lang="fr-FR" dirty="0"/>
              <a:t>N’oublie pas de lire l’article </a:t>
            </a:r>
            <a:r>
              <a:rPr lang="fr-FR" i="1" dirty="0"/>
              <a:t>Lutz et al. 2002.</a:t>
            </a:r>
          </a:p>
          <a:p>
            <a:pPr marL="0" indent="0">
              <a:buNone/>
            </a:pPr>
            <a:r>
              <a:rPr lang="fr-FR" dirty="0"/>
              <a:t>Il faut bien comprendre </a:t>
            </a:r>
            <a:r>
              <a:rPr lang="fr-FR" i="1" dirty="0"/>
              <a:t>la preuve de terminaison.</a:t>
            </a:r>
          </a:p>
          <a:p>
            <a:pPr marL="0" indent="0">
              <a:buNone/>
            </a:pPr>
            <a:r>
              <a:rPr lang="fr-FR" dirty="0"/>
              <a:t>Rendez-vous </a:t>
            </a:r>
            <a:r>
              <a:rPr lang="fr-FR" b="1" dirty="0"/>
              <a:t>mercredi</a:t>
            </a:r>
            <a:r>
              <a:rPr lang="fr-FR" dirty="0"/>
              <a:t> </a:t>
            </a:r>
            <a:r>
              <a:rPr lang="fr-FR" b="1" dirty="0"/>
              <a:t>dans mon bureau</a:t>
            </a:r>
          </a:p>
          <a:p>
            <a:pPr marL="0" indent="0" algn="r">
              <a:buNone/>
            </a:pPr>
            <a:r>
              <a:rPr lang="fr-FR" dirty="0"/>
              <a:t>Serena</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4117774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XML (6)</a:t>
            </a:r>
            <a:endParaRPr lang="fr-FR" dirty="0"/>
          </a:p>
        </p:txBody>
      </p:sp>
      <p:sp>
        <p:nvSpPr>
          <p:cNvPr id="3" name="Espace réservé du contenu 2"/>
          <p:cNvSpPr>
            <a:spLocks noGrp="1"/>
          </p:cNvSpPr>
          <p:nvPr>
            <p:ph idx="1"/>
          </p:nvPr>
        </p:nvSpPr>
        <p:spPr/>
        <p:txBody>
          <a:bodyPr>
            <a:normAutofit/>
          </a:bodyPr>
          <a:lstStyle/>
          <a:p>
            <a:pPr marL="0" indent="0">
              <a:buNone/>
            </a:pPr>
            <a:r>
              <a:rPr lang="fr-FR" dirty="0"/>
              <a:t>XML modélise des informations :</a:t>
            </a:r>
          </a:p>
          <a:p>
            <a:pPr marL="0" indent="0">
              <a:buNone/>
            </a:pPr>
            <a:r>
              <a:rPr lang="fr-FR" dirty="0"/>
              <a:t>• En organisant les données en un graphe d’objets complexes</a:t>
            </a:r>
          </a:p>
          <a:p>
            <a:pPr marL="0" indent="0">
              <a:buNone/>
            </a:pPr>
            <a:r>
              <a:rPr lang="fr-FR" dirty="0"/>
              <a:t>• En les structurant de façon plus flexible par rapport au modèle </a:t>
            </a:r>
            <a:r>
              <a:rPr lang="fr-FR" b="1" dirty="0"/>
              <a:t>relationnel</a:t>
            </a:r>
            <a:r>
              <a:rPr lang="fr-FR" dirty="0"/>
              <a:t> ou </a:t>
            </a:r>
            <a:r>
              <a:rPr lang="fr-FR" b="1" dirty="0"/>
              <a:t>objet</a:t>
            </a:r>
            <a:r>
              <a:rPr lang="fr-FR" dirty="0"/>
              <a:t> : les données sont dites semi-structurées</a:t>
            </a:r>
          </a:p>
          <a:p>
            <a:pPr marL="0" indent="0">
              <a:buNone/>
            </a:pPr>
            <a:r>
              <a:rPr lang="fr-FR" i="1" dirty="0"/>
              <a:t>graphe, objet complexe, flexible, semi-structuré</a:t>
            </a:r>
            <a:endParaRPr lang="fr-FR" dirty="0"/>
          </a:p>
        </p:txBody>
      </p:sp>
    </p:spTree>
    <p:extLst>
      <p:ext uri="{BB962C8B-B14F-4D97-AF65-F5344CB8AC3E}">
        <p14:creationId xmlns:p14="http://schemas.microsoft.com/office/powerpoint/2010/main" val="524898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Syntaxe de base de XML (1)</a:t>
            </a:r>
          </a:p>
        </p:txBody>
      </p:sp>
      <p:sp>
        <p:nvSpPr>
          <p:cNvPr id="3" name="Espace réservé du contenu 2"/>
          <p:cNvSpPr>
            <a:spLocks noGrp="1"/>
          </p:cNvSpPr>
          <p:nvPr>
            <p:ph idx="1"/>
          </p:nvPr>
        </p:nvSpPr>
        <p:spPr/>
        <p:txBody>
          <a:bodyPr>
            <a:normAutofit fontScale="85000" lnSpcReduction="10000"/>
          </a:bodyPr>
          <a:lstStyle/>
          <a:p>
            <a:r>
              <a:rPr lang="fr-FR" dirty="0"/>
              <a:t>La composante essentielle est </a:t>
            </a:r>
            <a:r>
              <a:rPr lang="fr-FR" b="1" i="1" u="sng" dirty="0"/>
              <a:t>l’élément</a:t>
            </a:r>
            <a:r>
              <a:rPr lang="fr-FR" dirty="0"/>
              <a:t>, un morceau de document délimité par une balise d’ouverture (ex. &lt;toto&gt;) et une de fermeture (ex. &lt;/toto&gt;.</a:t>
            </a:r>
          </a:p>
          <a:p>
            <a:r>
              <a:rPr lang="fr-FR" dirty="0"/>
              <a:t>Un élément peut contenir du texte, des autres éléments (</a:t>
            </a:r>
            <a:r>
              <a:rPr lang="fr-FR" dirty="0">
                <a:sym typeface="Wingdings" pitchFamily="2" charset="2"/>
              </a:rPr>
              <a:t></a:t>
            </a:r>
            <a:r>
              <a:rPr lang="fr-FR" dirty="0"/>
              <a:t> “objet complexe”), ou un mélange des deux.</a:t>
            </a:r>
          </a:p>
          <a:p>
            <a:pPr marL="400050" lvl="1" indent="0">
              <a:buNone/>
            </a:pPr>
            <a:r>
              <a:rPr lang="fr-FR" dirty="0"/>
              <a:t>• Les balises (leur noms) </a:t>
            </a:r>
            <a:r>
              <a:rPr lang="fr-FR" b="1" dirty="0"/>
              <a:t>sont définies par les utilisateurs</a:t>
            </a:r>
            <a:r>
              <a:rPr lang="fr-FR" dirty="0"/>
              <a:t>.</a:t>
            </a:r>
          </a:p>
          <a:p>
            <a:pPr marL="400050" lvl="1" indent="0">
              <a:buNone/>
            </a:pPr>
            <a:r>
              <a:rPr lang="fr-FR" dirty="0"/>
              <a:t>• Elles n’ont pas de signification prédéfinie : </a:t>
            </a:r>
            <a:r>
              <a:rPr lang="fr-FR" b="1" dirty="0"/>
              <a:t>elles indiquent seulement comment structurer le document sous forme de arbre </a:t>
            </a:r>
            <a:r>
              <a:rPr lang="fr-FR" dirty="0"/>
              <a:t>(ou, plus généralement, de graphe) !!</a:t>
            </a:r>
          </a:p>
          <a:p>
            <a:pPr marL="0" indent="0">
              <a:buNone/>
            </a:pPr>
            <a:endParaRPr lang="fr-FR" dirty="0"/>
          </a:p>
        </p:txBody>
      </p:sp>
    </p:spTree>
    <p:extLst>
      <p:ext uri="{BB962C8B-B14F-4D97-AF65-F5344CB8AC3E}">
        <p14:creationId xmlns:p14="http://schemas.microsoft.com/office/powerpoint/2010/main" val="3180952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(2)</a:t>
            </a:r>
            <a:endParaRPr lang="fr-FR"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FR" b="1" u="sng" dirty="0" err="1"/>
              <a:t>Example</a:t>
            </a:r>
            <a:r>
              <a:rPr lang="fr-FR" b="1" u="sng" dirty="0"/>
              <a:t> 3</a:t>
            </a:r>
          </a:p>
          <a:p>
            <a:pPr marL="0" indent="0">
              <a:buNone/>
            </a:pPr>
            <a:r>
              <a:rPr lang="fr-FR" dirty="0"/>
              <a:t>&lt;personne&gt;</a:t>
            </a:r>
          </a:p>
          <a:p>
            <a:pPr marL="0" indent="0">
              <a:buNone/>
            </a:pPr>
            <a:r>
              <a:rPr lang="fr-FR" dirty="0"/>
              <a:t>&lt;nom&gt; Alan &lt;/nom&gt;</a:t>
            </a:r>
          </a:p>
          <a:p>
            <a:pPr marL="0" indent="0">
              <a:buNone/>
            </a:pPr>
            <a:r>
              <a:rPr lang="fr-FR" dirty="0"/>
              <a:t>&lt;</a:t>
            </a:r>
            <a:r>
              <a:rPr lang="fr-FR" dirty="0" err="1"/>
              <a:t>age</a:t>
            </a:r>
            <a:r>
              <a:rPr lang="fr-FR" dirty="0"/>
              <a:t>&gt; 42 &lt;/</a:t>
            </a:r>
            <a:r>
              <a:rPr lang="fr-FR" dirty="0" err="1"/>
              <a:t>age</a:t>
            </a:r>
            <a:r>
              <a:rPr lang="fr-FR" dirty="0"/>
              <a:t>&gt;</a:t>
            </a:r>
          </a:p>
          <a:p>
            <a:pPr marL="0" indent="0">
              <a:buNone/>
            </a:pPr>
            <a:r>
              <a:rPr lang="fr-FR" dirty="0"/>
              <a:t>&lt;email&gt; agb@abc.com &lt;/email&gt;</a:t>
            </a:r>
          </a:p>
          <a:p>
            <a:pPr marL="0" indent="0">
              <a:buNone/>
            </a:pPr>
            <a:r>
              <a:rPr lang="fr-FR" dirty="0"/>
              <a:t>&lt;/personne&gt;</a:t>
            </a:r>
          </a:p>
          <a:p>
            <a:pPr marL="0" indent="0">
              <a:buNone/>
            </a:pPr>
            <a:r>
              <a:rPr lang="fr-FR" dirty="0"/>
              <a:t>Ici on a :</a:t>
            </a:r>
          </a:p>
          <a:p>
            <a:pPr marL="0" indent="0">
              <a:buNone/>
            </a:pPr>
            <a:r>
              <a:rPr lang="fr-FR" dirty="0"/>
              <a:t>• Un élément complexe de “sorte” (“type”) personne, qui consiste d’un triplet</a:t>
            </a:r>
          </a:p>
          <a:p>
            <a:pPr marL="0" indent="0">
              <a:buNone/>
            </a:pPr>
            <a:r>
              <a:rPr lang="fr-FR" dirty="0"/>
              <a:t>d’éléments ayant les “sortes” </a:t>
            </a:r>
            <a:r>
              <a:rPr lang="fr-FR" dirty="0" err="1"/>
              <a:t>nom,age,email</a:t>
            </a:r>
            <a:r>
              <a:rPr lang="fr-FR" dirty="0"/>
              <a:t>.</a:t>
            </a:r>
          </a:p>
          <a:p>
            <a:pPr marL="0" indent="0">
              <a:buNone/>
            </a:pPr>
            <a:r>
              <a:rPr lang="fr-FR" dirty="0"/>
              <a:t>• Un élément Alan de “sorte” nom</a:t>
            </a:r>
          </a:p>
          <a:p>
            <a:pPr marL="0" indent="0">
              <a:buNone/>
            </a:pPr>
            <a:r>
              <a:rPr lang="fr-FR" dirty="0"/>
              <a:t>• Un élément 42 de “sorte” </a:t>
            </a:r>
            <a:r>
              <a:rPr lang="fr-FR" dirty="0" err="1"/>
              <a:t>age</a:t>
            </a:r>
            <a:endParaRPr lang="fr-FR" dirty="0"/>
          </a:p>
          <a:p>
            <a:pPr marL="0" indent="0">
              <a:buNone/>
            </a:pPr>
            <a:r>
              <a:rPr lang="fr-FR" dirty="0"/>
              <a:t>• Un élément agb@abc.com de “sorte” email</a:t>
            </a:r>
          </a:p>
          <a:p>
            <a:pPr marL="0" indent="0">
              <a:buNone/>
            </a:pPr>
            <a:endParaRPr lang="fr-FR" dirty="0"/>
          </a:p>
        </p:txBody>
      </p:sp>
    </p:spTree>
    <p:extLst>
      <p:ext uri="{BB962C8B-B14F-4D97-AF65-F5344CB8AC3E}">
        <p14:creationId xmlns:p14="http://schemas.microsoft.com/office/powerpoint/2010/main" val="3194069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(3)</a:t>
            </a:r>
            <a:endParaRPr lang="fr-FR" dirty="0"/>
          </a:p>
        </p:txBody>
      </p:sp>
      <p:sp>
        <p:nvSpPr>
          <p:cNvPr id="3" name="Espace réservé du contenu 2"/>
          <p:cNvSpPr>
            <a:spLocks noGrp="1"/>
          </p:cNvSpPr>
          <p:nvPr>
            <p:ph idx="1"/>
          </p:nvPr>
        </p:nvSpPr>
        <p:spPr/>
        <p:txBody>
          <a:bodyPr/>
          <a:lstStyle/>
          <a:p>
            <a:pPr marL="0" indent="0">
              <a:buNone/>
            </a:pPr>
            <a:r>
              <a:rPr lang="fr-FR" b="1" u="sng" dirty="0"/>
              <a:t>Suite de </a:t>
            </a:r>
            <a:r>
              <a:rPr lang="fr-FR" b="1" u="sng" dirty="0" err="1"/>
              <a:t>léxemple</a:t>
            </a:r>
            <a:endParaRPr lang="fr-FR" b="1" u="sng" dirty="0"/>
          </a:p>
          <a:p>
            <a:pPr marL="0" indent="0">
              <a:buNone/>
            </a:pPr>
            <a:r>
              <a:rPr lang="fr-FR" dirty="0"/>
              <a:t>Le contenu de ce document peut être représenté :</a:t>
            </a:r>
          </a:p>
          <a:p>
            <a:pPr marL="0" indent="0">
              <a:buNone/>
            </a:pPr>
            <a:r>
              <a:rPr lang="fr-FR" dirty="0"/>
              <a:t>• Soit par un arbre où les nœuds internes sont étiquetés par les balises.</a:t>
            </a:r>
          </a:p>
          <a:p>
            <a:pPr marL="0" indent="0">
              <a:buNone/>
            </a:pPr>
            <a:r>
              <a:rPr lang="fr-FR" dirty="0"/>
              <a:t>• Soit par un arbre où les arcs sont étiquetés par les balises.</a:t>
            </a:r>
          </a:p>
        </p:txBody>
      </p:sp>
    </p:spTree>
    <p:extLst>
      <p:ext uri="{BB962C8B-B14F-4D97-AF65-F5344CB8AC3E}">
        <p14:creationId xmlns:p14="http://schemas.microsoft.com/office/powerpoint/2010/main" val="1618037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(4)</a:t>
            </a:r>
            <a:endParaRPr lang="fr-FR"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FR" b="1" u="sng" dirty="0" err="1"/>
              <a:t>Example</a:t>
            </a:r>
            <a:r>
              <a:rPr lang="fr-FR" b="1" u="sng" dirty="0"/>
              <a:t> 4</a:t>
            </a:r>
          </a:p>
          <a:p>
            <a:pPr marL="0" indent="0">
              <a:buNone/>
            </a:pPr>
            <a:r>
              <a:rPr lang="fr-FR" dirty="0"/>
              <a:t>&lt;gens&gt;</a:t>
            </a:r>
          </a:p>
          <a:p>
            <a:pPr marL="0" indent="0">
              <a:buNone/>
            </a:pPr>
            <a:r>
              <a:rPr lang="fr-FR" dirty="0"/>
              <a:t>&lt;personne&gt;</a:t>
            </a:r>
          </a:p>
          <a:p>
            <a:pPr marL="0" indent="0">
              <a:buNone/>
            </a:pPr>
            <a:r>
              <a:rPr lang="fr-FR" dirty="0"/>
              <a:t>&lt;nom&gt; Alan &lt;/nom&gt;</a:t>
            </a:r>
          </a:p>
          <a:p>
            <a:pPr marL="0" indent="0">
              <a:buNone/>
            </a:pPr>
            <a:r>
              <a:rPr lang="fr-FR" dirty="0"/>
              <a:t>&lt;</a:t>
            </a:r>
            <a:r>
              <a:rPr lang="fr-FR" dirty="0" err="1"/>
              <a:t>age</a:t>
            </a:r>
            <a:r>
              <a:rPr lang="fr-FR" dirty="0"/>
              <a:t>&gt; 42 &lt;/</a:t>
            </a:r>
            <a:r>
              <a:rPr lang="fr-FR" dirty="0" err="1"/>
              <a:t>age</a:t>
            </a:r>
            <a:r>
              <a:rPr lang="fr-FR" dirty="0"/>
              <a:t>&gt;</a:t>
            </a:r>
          </a:p>
          <a:p>
            <a:pPr marL="0" indent="0">
              <a:buNone/>
            </a:pPr>
            <a:r>
              <a:rPr lang="fr-FR" dirty="0"/>
              <a:t>&lt;email&gt; agb@abc.com &lt;/email&gt;</a:t>
            </a:r>
          </a:p>
          <a:p>
            <a:pPr marL="0" indent="0">
              <a:buNone/>
            </a:pPr>
            <a:r>
              <a:rPr lang="fr-FR" dirty="0"/>
              <a:t>&lt;/personne&gt;</a:t>
            </a:r>
          </a:p>
          <a:p>
            <a:pPr marL="0" indent="0">
              <a:buNone/>
            </a:pPr>
            <a:r>
              <a:rPr lang="fr-FR" dirty="0"/>
              <a:t>&lt;personne&gt;</a:t>
            </a:r>
          </a:p>
          <a:p>
            <a:pPr marL="0" indent="0">
              <a:buNone/>
            </a:pPr>
            <a:r>
              <a:rPr lang="fr-FR" dirty="0"/>
              <a:t>&lt;nom&gt; Patricia &lt;/nom&gt;</a:t>
            </a:r>
          </a:p>
          <a:p>
            <a:pPr marL="0" indent="0">
              <a:buNone/>
            </a:pPr>
            <a:r>
              <a:rPr lang="fr-FR" dirty="0"/>
              <a:t>&lt;</a:t>
            </a:r>
            <a:r>
              <a:rPr lang="fr-FR" dirty="0" err="1"/>
              <a:t>age</a:t>
            </a:r>
            <a:r>
              <a:rPr lang="fr-FR" dirty="0"/>
              <a:t>&gt; 36 &lt;/</a:t>
            </a:r>
            <a:r>
              <a:rPr lang="fr-FR" dirty="0" err="1"/>
              <a:t>age</a:t>
            </a:r>
            <a:r>
              <a:rPr lang="fr-FR" dirty="0"/>
              <a:t>&gt;</a:t>
            </a:r>
          </a:p>
          <a:p>
            <a:pPr marL="0" indent="0">
              <a:buNone/>
            </a:pPr>
            <a:r>
              <a:rPr lang="fr-FR" dirty="0"/>
              <a:t>&lt;email&gt; ptn@abc.com &lt;/email&gt;</a:t>
            </a:r>
          </a:p>
          <a:p>
            <a:pPr marL="0" indent="0">
              <a:buNone/>
            </a:pPr>
            <a:r>
              <a:rPr lang="fr-FR" dirty="0"/>
              <a:t>&lt;/personne&gt;</a:t>
            </a:r>
          </a:p>
          <a:p>
            <a:pPr marL="0" indent="0">
              <a:buNone/>
            </a:pPr>
            <a:r>
              <a:rPr lang="fr-FR" dirty="0"/>
              <a:t>&lt;/gens&gt;</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1974937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(5)</a:t>
            </a:r>
            <a:endParaRPr lang="fr-FR" dirty="0"/>
          </a:p>
        </p:txBody>
      </p:sp>
      <p:sp>
        <p:nvSpPr>
          <p:cNvPr id="3" name="Espace réservé du contenu 2"/>
          <p:cNvSpPr>
            <a:spLocks noGrp="1"/>
          </p:cNvSpPr>
          <p:nvPr>
            <p:ph idx="1"/>
          </p:nvPr>
        </p:nvSpPr>
        <p:spPr/>
        <p:txBody>
          <a:bodyPr/>
          <a:lstStyle/>
          <a:p>
            <a:pPr marL="0" indent="0">
              <a:buNone/>
            </a:pPr>
            <a:r>
              <a:rPr lang="fr-FR" dirty="0"/>
              <a:t>Remarque : on peut utiliser plusieurs éléments ayant la même balise pour représenter une collection.</a:t>
            </a:r>
          </a:p>
          <a:p>
            <a:pPr marL="0" indent="0">
              <a:buNone/>
            </a:pPr>
            <a:r>
              <a:rPr lang="fr-FR" dirty="0"/>
              <a:t>Dans l’exemple 4, une entité de “sorte” gens est une collection de personnes...</a:t>
            </a:r>
          </a:p>
          <a:p>
            <a:pPr marL="0" indent="0">
              <a:buNone/>
            </a:pPr>
            <a:r>
              <a:rPr lang="fr-FR" dirty="0"/>
              <a:t>A nouveau, on peut représenter ces informations sous forme d’un arbre, avec deux</a:t>
            </a:r>
          </a:p>
          <a:p>
            <a:pPr marL="0" indent="0">
              <a:buNone/>
            </a:pPr>
            <a:r>
              <a:rPr lang="fr-FR" dirty="0"/>
              <a:t>possibilités.</a:t>
            </a:r>
          </a:p>
          <a:p>
            <a:pPr marL="0" indent="0">
              <a:buNone/>
            </a:pPr>
            <a:endParaRPr lang="fr-FR" dirty="0"/>
          </a:p>
        </p:txBody>
      </p:sp>
    </p:spTree>
    <p:extLst>
      <p:ext uri="{BB962C8B-B14F-4D97-AF65-F5344CB8AC3E}">
        <p14:creationId xmlns:p14="http://schemas.microsoft.com/office/powerpoint/2010/main" val="3634079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260648"/>
            <a:ext cx="8229600" cy="5865515"/>
          </a:xfrm>
        </p:spPr>
        <p:txBody>
          <a:bodyPr>
            <a:noAutofit/>
          </a:bodyPr>
          <a:lstStyle/>
          <a:p>
            <a:pPr marL="0" indent="0">
              <a:buNone/>
            </a:pPr>
            <a:r>
              <a:rPr lang="fr-FR" sz="1400" dirty="0" err="1"/>
              <a:t>Example</a:t>
            </a:r>
            <a:r>
              <a:rPr lang="fr-FR" sz="1400" dirty="0"/>
              <a:t> 5</a:t>
            </a:r>
          </a:p>
          <a:p>
            <a:pPr marL="0" indent="0">
              <a:buNone/>
            </a:pPr>
            <a:r>
              <a:rPr lang="fr-FR" sz="1400" dirty="0"/>
              <a:t>&lt;biblio&gt;</a:t>
            </a:r>
          </a:p>
          <a:p>
            <a:pPr marL="0" indent="0">
              <a:buNone/>
            </a:pPr>
            <a:r>
              <a:rPr lang="fr-FR" sz="1400" dirty="0"/>
              <a:t>&lt;livre&gt;</a:t>
            </a:r>
          </a:p>
          <a:p>
            <a:pPr marL="0" indent="0">
              <a:buNone/>
            </a:pPr>
            <a:r>
              <a:rPr lang="fr-FR" sz="1400" dirty="0"/>
              <a:t>&lt;auteurs&gt;</a:t>
            </a:r>
          </a:p>
          <a:p>
            <a:pPr marL="0" indent="0">
              <a:buNone/>
            </a:pPr>
            <a:r>
              <a:rPr lang="fr-FR" sz="1400" dirty="0"/>
              <a:t>&lt;nom&gt; </a:t>
            </a:r>
            <a:r>
              <a:rPr lang="fr-FR" sz="1400" dirty="0" err="1"/>
              <a:t>Abiteboul</a:t>
            </a:r>
            <a:r>
              <a:rPr lang="fr-FR" sz="1400" dirty="0"/>
              <a:t> &lt;/nom&gt;</a:t>
            </a:r>
          </a:p>
          <a:p>
            <a:pPr marL="0" indent="0">
              <a:buNone/>
            </a:pPr>
            <a:r>
              <a:rPr lang="fr-FR" sz="1400" dirty="0"/>
              <a:t>&lt;nom&gt; </a:t>
            </a:r>
            <a:r>
              <a:rPr lang="fr-FR" sz="1400" dirty="0" err="1"/>
              <a:t>Bunemann</a:t>
            </a:r>
            <a:r>
              <a:rPr lang="fr-FR" sz="1400" dirty="0"/>
              <a:t> &lt;/nom&gt;</a:t>
            </a:r>
          </a:p>
          <a:p>
            <a:pPr marL="0" indent="0">
              <a:buNone/>
            </a:pPr>
            <a:r>
              <a:rPr lang="fr-FR" sz="1400" dirty="0"/>
              <a:t>&lt;nom&gt; </a:t>
            </a:r>
            <a:r>
              <a:rPr lang="fr-FR" sz="1400" dirty="0" err="1"/>
              <a:t>Suciu</a:t>
            </a:r>
            <a:r>
              <a:rPr lang="fr-FR" sz="1400" dirty="0"/>
              <a:t> &lt;/nom&gt;</a:t>
            </a:r>
          </a:p>
          <a:p>
            <a:pPr marL="0" indent="0">
              <a:buNone/>
            </a:pPr>
            <a:r>
              <a:rPr lang="fr-FR" sz="1400" dirty="0"/>
              <a:t>&lt;/auteurs&gt;</a:t>
            </a:r>
          </a:p>
          <a:p>
            <a:pPr marL="0" indent="0">
              <a:buNone/>
            </a:pPr>
            <a:r>
              <a:rPr lang="en-US" sz="1400" dirty="0"/>
              <a:t>&lt;</a:t>
            </a:r>
            <a:r>
              <a:rPr lang="en-US" sz="1400" dirty="0" err="1"/>
              <a:t>titre</a:t>
            </a:r>
            <a:r>
              <a:rPr lang="en-US" sz="1400" dirty="0"/>
              <a:t>&gt; Data on the Web &lt;/</a:t>
            </a:r>
            <a:r>
              <a:rPr lang="en-US" sz="1400" dirty="0" err="1"/>
              <a:t>titre</a:t>
            </a:r>
            <a:r>
              <a:rPr lang="en-US" sz="1400" dirty="0"/>
              <a:t>&gt;</a:t>
            </a:r>
          </a:p>
          <a:p>
            <a:pPr marL="0" indent="0">
              <a:buNone/>
            </a:pPr>
            <a:r>
              <a:rPr lang="fr-FR" sz="1400" dirty="0"/>
              <a:t>&lt;</a:t>
            </a:r>
            <a:r>
              <a:rPr lang="fr-FR" sz="1400" dirty="0" err="1"/>
              <a:t>edition</a:t>
            </a:r>
            <a:r>
              <a:rPr lang="fr-FR" sz="1400" dirty="0"/>
              <a:t>&gt;</a:t>
            </a:r>
          </a:p>
          <a:p>
            <a:pPr marL="0" indent="0">
              <a:buNone/>
            </a:pPr>
            <a:r>
              <a:rPr lang="fr-FR" sz="1400" dirty="0"/>
              <a:t>&lt;nom-</a:t>
            </a:r>
            <a:r>
              <a:rPr lang="fr-FR" sz="1400" dirty="0" err="1"/>
              <a:t>ed</a:t>
            </a:r>
            <a:r>
              <a:rPr lang="fr-FR" sz="1400" dirty="0"/>
              <a:t>&gt; Morgan Kaufman &lt;/nom-</a:t>
            </a:r>
            <a:r>
              <a:rPr lang="fr-FR" sz="1400" dirty="0" err="1"/>
              <a:t>ed</a:t>
            </a:r>
            <a:r>
              <a:rPr lang="fr-FR" sz="1400" dirty="0"/>
              <a:t>&gt;</a:t>
            </a:r>
          </a:p>
          <a:p>
            <a:pPr marL="0" indent="0">
              <a:buNone/>
            </a:pPr>
            <a:r>
              <a:rPr lang="fr-FR" sz="1400" dirty="0"/>
              <a:t>&lt;adresse-</a:t>
            </a:r>
            <a:r>
              <a:rPr lang="fr-FR" sz="1400" dirty="0" err="1"/>
              <a:t>edition</a:t>
            </a:r>
            <a:r>
              <a:rPr lang="fr-FR" sz="1400" dirty="0"/>
              <a:t>&gt;</a:t>
            </a:r>
          </a:p>
          <a:p>
            <a:pPr marL="0" indent="0">
              <a:buNone/>
            </a:pPr>
            <a:r>
              <a:rPr lang="it-IT" sz="1400" dirty="0"/>
              <a:t>&lt;rue-ed&gt; 340, Pine Street &lt;/rue-ed&gt;</a:t>
            </a:r>
          </a:p>
          <a:p>
            <a:pPr marL="0" indent="0">
              <a:buNone/>
            </a:pPr>
            <a:r>
              <a:rPr lang="fr-FR" sz="1400" dirty="0"/>
              <a:t>&lt;ville-</a:t>
            </a:r>
            <a:r>
              <a:rPr lang="fr-FR" sz="1400" dirty="0" err="1"/>
              <a:t>ed</a:t>
            </a:r>
            <a:r>
              <a:rPr lang="fr-FR" sz="1400" dirty="0"/>
              <a:t>&gt; San Francisco &lt;/ville-</a:t>
            </a:r>
            <a:r>
              <a:rPr lang="fr-FR" sz="1400" dirty="0" err="1"/>
              <a:t>ed</a:t>
            </a:r>
            <a:r>
              <a:rPr lang="fr-FR" sz="1400" dirty="0"/>
              <a:t>&gt;</a:t>
            </a:r>
          </a:p>
          <a:p>
            <a:pPr marL="0" indent="0">
              <a:buNone/>
            </a:pPr>
            <a:r>
              <a:rPr lang="fr-FR" sz="1400" dirty="0"/>
              <a:t>&lt;</a:t>
            </a:r>
            <a:r>
              <a:rPr lang="fr-FR" sz="1400" dirty="0" err="1"/>
              <a:t>etat-ed</a:t>
            </a:r>
            <a:r>
              <a:rPr lang="fr-FR" sz="1400" dirty="0"/>
              <a:t>&gt; </a:t>
            </a:r>
            <a:r>
              <a:rPr lang="fr-FR" sz="1400" dirty="0" err="1"/>
              <a:t>California</a:t>
            </a:r>
            <a:r>
              <a:rPr lang="fr-FR" sz="1400" dirty="0"/>
              <a:t> &lt;/</a:t>
            </a:r>
            <a:r>
              <a:rPr lang="fr-FR" sz="1400" dirty="0" err="1"/>
              <a:t>etat-ed</a:t>
            </a:r>
            <a:r>
              <a:rPr lang="fr-FR" sz="1400" dirty="0"/>
              <a:t>&gt;</a:t>
            </a:r>
          </a:p>
          <a:p>
            <a:pPr marL="0" indent="0">
              <a:buNone/>
            </a:pPr>
            <a:r>
              <a:rPr lang="fr-FR" sz="1400" dirty="0"/>
              <a:t>&lt;pays-</a:t>
            </a:r>
            <a:r>
              <a:rPr lang="fr-FR" sz="1400" dirty="0" err="1"/>
              <a:t>ed</a:t>
            </a:r>
            <a:r>
              <a:rPr lang="fr-FR" sz="1400" dirty="0"/>
              <a:t>&gt; USA &lt;/pays-</a:t>
            </a:r>
            <a:r>
              <a:rPr lang="fr-FR" sz="1400" dirty="0" err="1"/>
              <a:t>ed</a:t>
            </a:r>
            <a:r>
              <a:rPr lang="fr-FR" sz="1400" dirty="0"/>
              <a:t>&gt;</a:t>
            </a:r>
          </a:p>
          <a:p>
            <a:pPr marL="0" indent="0">
              <a:buNone/>
            </a:pPr>
            <a:r>
              <a:rPr lang="fr-FR" sz="1400" dirty="0"/>
              <a:t>&lt;/adresse-</a:t>
            </a:r>
            <a:r>
              <a:rPr lang="fr-FR" sz="1400" dirty="0" err="1"/>
              <a:t>edition</a:t>
            </a:r>
            <a:r>
              <a:rPr lang="fr-FR" sz="1400" dirty="0"/>
              <a:t>&gt;</a:t>
            </a:r>
          </a:p>
          <a:p>
            <a:pPr marL="0" indent="0">
              <a:buNone/>
            </a:pPr>
            <a:r>
              <a:rPr lang="fr-FR" sz="1400" dirty="0"/>
              <a:t>&lt;/</a:t>
            </a:r>
            <a:r>
              <a:rPr lang="fr-FR" sz="1400" dirty="0" err="1"/>
              <a:t>edition</a:t>
            </a:r>
            <a:r>
              <a:rPr lang="fr-FR" sz="1400" dirty="0"/>
              <a:t>&gt;</a:t>
            </a:r>
          </a:p>
          <a:p>
            <a:pPr marL="0" indent="0">
              <a:buNone/>
            </a:pPr>
            <a:r>
              <a:rPr lang="fr-FR" sz="1400" dirty="0"/>
              <a:t>&lt;/livre&gt;</a:t>
            </a:r>
          </a:p>
          <a:p>
            <a:pPr marL="0" indent="0">
              <a:buNone/>
            </a:pPr>
            <a:r>
              <a:rPr lang="fr-FR" sz="1400" dirty="0"/>
              <a:t>&lt;livre&gt;</a:t>
            </a:r>
          </a:p>
          <a:p>
            <a:pPr marL="0" indent="0">
              <a:buNone/>
            </a:pPr>
            <a:r>
              <a:rPr lang="fr-FR" sz="1400" dirty="0"/>
              <a:t>.</a:t>
            </a:r>
          </a:p>
          <a:p>
            <a:pPr marL="0" indent="0">
              <a:buNone/>
            </a:pPr>
            <a:r>
              <a:rPr lang="fr-FR" sz="1400" dirty="0"/>
              <a:t>.</a:t>
            </a:r>
          </a:p>
          <a:p>
            <a:pPr marL="0" indent="0">
              <a:buNone/>
            </a:pPr>
            <a:r>
              <a:rPr lang="fr-FR" sz="1400" dirty="0"/>
              <a:t>.</a:t>
            </a:r>
          </a:p>
          <a:p>
            <a:pPr marL="0" indent="0">
              <a:buNone/>
            </a:pPr>
            <a:r>
              <a:rPr lang="fr-FR" sz="1400" dirty="0"/>
              <a:t>&lt;/livre&gt;</a:t>
            </a:r>
          </a:p>
          <a:p>
            <a:pPr marL="0" indent="0">
              <a:buNone/>
            </a:pPr>
            <a:r>
              <a:rPr lang="fr-FR" sz="1400" dirty="0"/>
              <a:t>&lt;/biblio&gt;</a:t>
            </a:r>
          </a:p>
          <a:p>
            <a:pPr marL="0" indent="0">
              <a:buNone/>
            </a:pPr>
            <a:endParaRPr lang="fr-FR" sz="1400" dirty="0"/>
          </a:p>
        </p:txBody>
      </p:sp>
    </p:spTree>
    <p:extLst>
      <p:ext uri="{BB962C8B-B14F-4D97-AF65-F5344CB8AC3E}">
        <p14:creationId xmlns:p14="http://schemas.microsoft.com/office/powerpoint/2010/main" val="158147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64704"/>
            <a:ext cx="8229600" cy="1604393"/>
          </a:xfrm>
        </p:spPr>
        <p:txBody>
          <a:bodyPr>
            <a:normAutofit/>
          </a:bodyPr>
          <a:lstStyle/>
          <a:p>
            <a:pPr marL="0" indent="0">
              <a:buNone/>
            </a:pPr>
            <a:r>
              <a:rPr lang="fr-FR" b="1" dirty="0"/>
              <a:t>Pourquoi “objet complexe” ?</a:t>
            </a:r>
          </a:p>
          <a:p>
            <a:pPr marL="0" indent="0">
              <a:buNone/>
            </a:pPr>
            <a:r>
              <a:rPr lang="fr-FR" sz="2000" dirty="0"/>
              <a:t>Comparer avec les BD relationnelles (en première forme normale), où le domaine de tout attribut contient seulement des valeurs atomiques, et toute “entité est plate”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6" y="2369097"/>
            <a:ext cx="8532440" cy="2119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Espace réservé du contenu 2"/>
          <p:cNvSpPr txBox="1">
            <a:spLocks/>
          </p:cNvSpPr>
          <p:nvPr/>
        </p:nvSpPr>
        <p:spPr>
          <a:xfrm>
            <a:off x="609600" y="4560911"/>
            <a:ext cx="8229600" cy="16043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000" dirty="0"/>
              <a:t>Dans le document XML de l’exemple 5, un livre est un objet complexe, composé d’une séquence d’auteurs, d’un titre et d’une adresse (comme dans le BD à objet).</a:t>
            </a:r>
          </a:p>
          <a:p>
            <a:pPr marL="0" indent="0">
              <a:buNone/>
            </a:pPr>
            <a:r>
              <a:rPr lang="fr-FR" sz="2000" dirty="0"/>
              <a:t>La première et la troisième composantes sont elles mêmes des objets complexes.</a:t>
            </a:r>
          </a:p>
          <a:p>
            <a:pPr marL="0" indent="0">
              <a:buNone/>
            </a:pPr>
            <a:endParaRPr lang="fr-FR" sz="2000" dirty="0"/>
          </a:p>
        </p:txBody>
      </p:sp>
    </p:spTree>
    <p:extLst>
      <p:ext uri="{BB962C8B-B14F-4D97-AF65-F5344CB8AC3E}">
        <p14:creationId xmlns:p14="http://schemas.microsoft.com/office/powerpoint/2010/main" val="3485712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5536" y="908720"/>
            <a:ext cx="8229600" cy="4525963"/>
          </a:xfrm>
        </p:spPr>
        <p:txBody>
          <a:bodyPr>
            <a:normAutofit/>
          </a:bodyPr>
          <a:lstStyle/>
          <a:p>
            <a:r>
              <a:rPr lang="fr-FR" dirty="0"/>
              <a:t>Pourquoi “semi-structuré” ?</a:t>
            </a:r>
          </a:p>
          <a:p>
            <a:r>
              <a:rPr lang="fr-FR" dirty="0"/>
              <a:t>Un premier élément de réponse :</a:t>
            </a:r>
          </a:p>
          <a:p>
            <a:r>
              <a:rPr lang="fr-FR" dirty="0"/>
              <a:t>un objet complexe peut avoir des composantes optionnelles, le “schéma” de la base n’est pas </a:t>
            </a:r>
            <a:r>
              <a:rPr lang="fr-FR" b="1" i="1" dirty="0"/>
              <a:t>rigide</a:t>
            </a:r>
            <a:r>
              <a:rPr lang="fr-FR" dirty="0"/>
              <a:t>.</a:t>
            </a:r>
          </a:p>
          <a:p>
            <a:r>
              <a:rPr lang="fr-FR" dirty="0"/>
              <a:t>Différence par rapport au modèle relationnel, où le nombre d’attributs du schéma d’une relation est fixé en avance.</a:t>
            </a:r>
          </a:p>
          <a:p>
            <a:pPr marL="0" indent="0">
              <a:buNone/>
            </a:pPr>
            <a:endParaRPr lang="fr-FR" dirty="0"/>
          </a:p>
        </p:txBody>
      </p:sp>
    </p:spTree>
    <p:extLst>
      <p:ext uri="{BB962C8B-B14F-4D97-AF65-F5344CB8AC3E}">
        <p14:creationId xmlns:p14="http://schemas.microsoft.com/office/powerpoint/2010/main" val="2978664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4"/>
            <a:ext cx="8229600" cy="5721499"/>
          </a:xfrm>
        </p:spPr>
        <p:txBody>
          <a:bodyPr>
            <a:noAutofit/>
          </a:bodyPr>
          <a:lstStyle/>
          <a:p>
            <a:pPr marL="0" indent="0">
              <a:buNone/>
            </a:pPr>
            <a:r>
              <a:rPr lang="fr-FR" sz="1100" b="1" dirty="0" err="1"/>
              <a:t>Example</a:t>
            </a:r>
            <a:r>
              <a:rPr lang="fr-FR" sz="1100" b="1" dirty="0"/>
              <a:t> 6 Un livre peut éventuellement être stocké avec son prix; le champ pays-</a:t>
            </a:r>
            <a:r>
              <a:rPr lang="fr-FR" sz="1100" b="1" dirty="0" err="1"/>
              <a:t>ed</a:t>
            </a:r>
            <a:r>
              <a:rPr lang="fr-FR" sz="1100" b="1" dirty="0"/>
              <a:t> est aussi optionnel :</a:t>
            </a:r>
          </a:p>
          <a:p>
            <a:pPr marL="0" indent="0">
              <a:buNone/>
            </a:pPr>
            <a:r>
              <a:rPr lang="fr-FR" sz="1100" dirty="0"/>
              <a:t>&lt;biblio&gt;</a:t>
            </a:r>
          </a:p>
          <a:p>
            <a:pPr marL="0" indent="0">
              <a:buNone/>
            </a:pPr>
            <a:r>
              <a:rPr lang="fr-FR" sz="1100" dirty="0"/>
              <a:t>&lt;livre&gt;</a:t>
            </a:r>
          </a:p>
          <a:p>
            <a:pPr marL="0" indent="0">
              <a:buNone/>
            </a:pPr>
            <a:r>
              <a:rPr lang="fr-FR" sz="1100" dirty="0"/>
              <a:t>&lt;auteurs&gt;</a:t>
            </a:r>
          </a:p>
          <a:p>
            <a:pPr marL="0" indent="0">
              <a:buNone/>
            </a:pPr>
            <a:r>
              <a:rPr lang="fr-FR" sz="1100" dirty="0"/>
              <a:t>&lt;nom&gt; </a:t>
            </a:r>
            <a:r>
              <a:rPr lang="fr-FR" sz="1100" dirty="0" err="1"/>
              <a:t>Abiteboul</a:t>
            </a:r>
            <a:r>
              <a:rPr lang="fr-FR" sz="1100" dirty="0"/>
              <a:t> &lt;/nom&gt;</a:t>
            </a:r>
          </a:p>
          <a:p>
            <a:pPr marL="0" indent="0">
              <a:buNone/>
            </a:pPr>
            <a:r>
              <a:rPr lang="fr-FR" sz="1100" dirty="0"/>
              <a:t>&lt;nom&gt; </a:t>
            </a:r>
            <a:r>
              <a:rPr lang="fr-FR" sz="1100" dirty="0" err="1"/>
              <a:t>Bunemann</a:t>
            </a:r>
            <a:r>
              <a:rPr lang="fr-FR" sz="1100" dirty="0"/>
              <a:t> &lt;/nom&gt;</a:t>
            </a:r>
          </a:p>
          <a:p>
            <a:pPr marL="0" indent="0">
              <a:buNone/>
            </a:pPr>
            <a:r>
              <a:rPr lang="fr-FR" sz="1100" dirty="0"/>
              <a:t>&lt;nom&gt; </a:t>
            </a:r>
            <a:r>
              <a:rPr lang="fr-FR" sz="1100" dirty="0" err="1"/>
              <a:t>Suciu</a:t>
            </a:r>
            <a:r>
              <a:rPr lang="fr-FR" sz="1100" dirty="0"/>
              <a:t> &lt;/nom&gt;</a:t>
            </a:r>
          </a:p>
          <a:p>
            <a:pPr marL="0" indent="0">
              <a:buNone/>
            </a:pPr>
            <a:r>
              <a:rPr lang="fr-FR" sz="1100" dirty="0"/>
              <a:t>&lt;/auteurs&gt;</a:t>
            </a:r>
          </a:p>
          <a:p>
            <a:pPr marL="0" indent="0">
              <a:buNone/>
            </a:pPr>
            <a:r>
              <a:rPr lang="en-US" sz="1100" dirty="0"/>
              <a:t>&lt;</a:t>
            </a:r>
            <a:r>
              <a:rPr lang="en-US" sz="1100" dirty="0" err="1"/>
              <a:t>titre</a:t>
            </a:r>
            <a:r>
              <a:rPr lang="en-US" sz="1100" dirty="0"/>
              <a:t>&gt; Data on the Web &lt;/</a:t>
            </a:r>
            <a:r>
              <a:rPr lang="en-US" sz="1100" dirty="0" err="1"/>
              <a:t>titre</a:t>
            </a:r>
            <a:r>
              <a:rPr lang="en-US" sz="1100" dirty="0"/>
              <a:t>&gt;</a:t>
            </a:r>
          </a:p>
          <a:p>
            <a:pPr marL="0" indent="0">
              <a:buNone/>
            </a:pPr>
            <a:r>
              <a:rPr lang="fr-FR" sz="1100" dirty="0"/>
              <a:t>&lt;</a:t>
            </a:r>
            <a:r>
              <a:rPr lang="fr-FR" sz="1100" dirty="0" err="1"/>
              <a:t>edition</a:t>
            </a:r>
            <a:r>
              <a:rPr lang="fr-FR" sz="1100" dirty="0"/>
              <a:t>&gt;</a:t>
            </a:r>
          </a:p>
          <a:p>
            <a:pPr marL="0" indent="0">
              <a:buNone/>
            </a:pPr>
            <a:r>
              <a:rPr lang="fr-FR" sz="1100" dirty="0"/>
              <a:t>&lt;nom-</a:t>
            </a:r>
            <a:r>
              <a:rPr lang="fr-FR" sz="1100" dirty="0" err="1"/>
              <a:t>ed</a:t>
            </a:r>
            <a:r>
              <a:rPr lang="fr-FR" sz="1100" dirty="0"/>
              <a:t>&gt; Morgan Kaufman &lt;/nom-</a:t>
            </a:r>
            <a:r>
              <a:rPr lang="fr-FR" sz="1100" dirty="0" err="1"/>
              <a:t>ed</a:t>
            </a:r>
            <a:r>
              <a:rPr lang="fr-FR" sz="1100" dirty="0"/>
              <a:t>&gt;</a:t>
            </a:r>
          </a:p>
          <a:p>
            <a:pPr marL="0" indent="0">
              <a:buNone/>
            </a:pPr>
            <a:r>
              <a:rPr lang="fr-FR" sz="1100" dirty="0"/>
              <a:t>&lt;adresse-</a:t>
            </a:r>
            <a:r>
              <a:rPr lang="fr-FR" sz="1100" dirty="0" err="1"/>
              <a:t>edition</a:t>
            </a:r>
            <a:r>
              <a:rPr lang="fr-FR" sz="1100" dirty="0"/>
              <a:t>&gt;</a:t>
            </a:r>
          </a:p>
          <a:p>
            <a:pPr marL="0" indent="0">
              <a:buNone/>
            </a:pPr>
            <a:r>
              <a:rPr lang="it-IT" sz="1100" dirty="0"/>
              <a:t>&lt;rue-ed&gt; 340, Pine Street &lt;/rue-ed&gt;</a:t>
            </a:r>
          </a:p>
          <a:p>
            <a:pPr marL="0" indent="0">
              <a:buNone/>
            </a:pPr>
            <a:r>
              <a:rPr lang="fr-FR" sz="1100" dirty="0"/>
              <a:t>&lt;ville-</a:t>
            </a:r>
            <a:r>
              <a:rPr lang="fr-FR" sz="1100" dirty="0" err="1"/>
              <a:t>ed</a:t>
            </a:r>
            <a:r>
              <a:rPr lang="fr-FR" sz="1100" dirty="0"/>
              <a:t>&gt; San Francisco &lt;/ville-</a:t>
            </a:r>
            <a:r>
              <a:rPr lang="fr-FR" sz="1100" dirty="0" err="1"/>
              <a:t>ed</a:t>
            </a:r>
            <a:r>
              <a:rPr lang="fr-FR" sz="1100" dirty="0"/>
              <a:t>&gt;</a:t>
            </a:r>
          </a:p>
          <a:p>
            <a:pPr marL="0" indent="0">
              <a:buNone/>
            </a:pPr>
            <a:r>
              <a:rPr lang="fr-FR" sz="1100" dirty="0"/>
              <a:t>&lt;</a:t>
            </a:r>
            <a:r>
              <a:rPr lang="fr-FR" sz="1100" dirty="0" err="1"/>
              <a:t>etat-ed</a:t>
            </a:r>
            <a:r>
              <a:rPr lang="fr-FR" sz="1100" dirty="0"/>
              <a:t>&gt; </a:t>
            </a:r>
            <a:r>
              <a:rPr lang="fr-FR" sz="1100" dirty="0" err="1"/>
              <a:t>California</a:t>
            </a:r>
            <a:r>
              <a:rPr lang="fr-FR" sz="1100" dirty="0"/>
              <a:t> &lt;/</a:t>
            </a:r>
            <a:r>
              <a:rPr lang="fr-FR" sz="1100" dirty="0" err="1"/>
              <a:t>etat-ed</a:t>
            </a:r>
            <a:r>
              <a:rPr lang="fr-FR" sz="1100" dirty="0"/>
              <a:t>&gt;</a:t>
            </a:r>
          </a:p>
          <a:p>
            <a:pPr marL="0" indent="0">
              <a:buNone/>
            </a:pPr>
            <a:r>
              <a:rPr lang="fr-FR" sz="1100" b="1" u="sng" dirty="0"/>
              <a:t>&lt;pays-</a:t>
            </a:r>
            <a:r>
              <a:rPr lang="fr-FR" sz="1100" b="1" u="sng" dirty="0" err="1"/>
              <a:t>ed</a:t>
            </a:r>
            <a:r>
              <a:rPr lang="fr-FR" sz="1100" b="1" u="sng" dirty="0"/>
              <a:t>&gt; USA &lt;/pays-</a:t>
            </a:r>
            <a:r>
              <a:rPr lang="fr-FR" sz="1100" b="1" u="sng" dirty="0" err="1"/>
              <a:t>ed</a:t>
            </a:r>
            <a:r>
              <a:rPr lang="fr-FR" sz="1100" b="1" u="sng" dirty="0"/>
              <a:t>&gt;</a:t>
            </a:r>
          </a:p>
          <a:p>
            <a:pPr marL="0" indent="0">
              <a:buNone/>
            </a:pPr>
            <a:r>
              <a:rPr lang="fr-FR" sz="1100" dirty="0"/>
              <a:t>&lt;/adresse-</a:t>
            </a:r>
            <a:r>
              <a:rPr lang="fr-FR" sz="1100" dirty="0" err="1"/>
              <a:t>edition</a:t>
            </a:r>
            <a:r>
              <a:rPr lang="fr-FR" sz="1100" dirty="0"/>
              <a:t>&gt;</a:t>
            </a:r>
          </a:p>
          <a:p>
            <a:pPr marL="0" indent="0">
              <a:buNone/>
            </a:pPr>
            <a:r>
              <a:rPr lang="fr-FR" sz="1100" dirty="0"/>
              <a:t>&lt;/</a:t>
            </a:r>
            <a:r>
              <a:rPr lang="fr-FR" sz="1100" dirty="0" err="1"/>
              <a:t>edition</a:t>
            </a:r>
            <a:r>
              <a:rPr lang="fr-FR" sz="1100" dirty="0"/>
              <a:t>&gt;</a:t>
            </a:r>
          </a:p>
          <a:p>
            <a:pPr marL="0" indent="0">
              <a:buNone/>
            </a:pPr>
            <a:r>
              <a:rPr lang="fr-FR" sz="1100" b="1" u="sng" dirty="0"/>
              <a:t>&lt;prix-en-euros&gt; 44 &lt;prix-en-euros&gt;</a:t>
            </a:r>
          </a:p>
          <a:p>
            <a:pPr marL="0" indent="0">
              <a:buNone/>
            </a:pPr>
            <a:r>
              <a:rPr lang="fr-FR" sz="1100" dirty="0"/>
              <a:t>&lt;/livre&gt;</a:t>
            </a:r>
          </a:p>
          <a:p>
            <a:pPr marL="0" indent="0">
              <a:buNone/>
            </a:pPr>
            <a:r>
              <a:rPr lang="fr-FR" sz="1100" dirty="0"/>
              <a:t>&lt;livre&gt;</a:t>
            </a:r>
          </a:p>
          <a:p>
            <a:pPr marL="0" indent="0">
              <a:buNone/>
            </a:pPr>
            <a:r>
              <a:rPr lang="fr-FR" sz="1100" dirty="0"/>
              <a:t>&lt;auteurs&gt;</a:t>
            </a:r>
          </a:p>
          <a:p>
            <a:pPr marL="0" indent="0">
              <a:buNone/>
            </a:pPr>
            <a:r>
              <a:rPr lang="fr-FR" sz="1100" dirty="0"/>
              <a:t>&lt;nom&gt; </a:t>
            </a:r>
            <a:r>
              <a:rPr lang="fr-FR" sz="1100" dirty="0" err="1"/>
              <a:t>Gardarin</a:t>
            </a:r>
            <a:r>
              <a:rPr lang="fr-FR" sz="1100" dirty="0"/>
              <a:t> &lt;/nom&gt;</a:t>
            </a:r>
          </a:p>
          <a:p>
            <a:pPr marL="0" indent="0">
              <a:buNone/>
            </a:pPr>
            <a:r>
              <a:rPr lang="fr-FR" sz="1100" dirty="0"/>
              <a:t>&lt;/auteurs&gt;</a:t>
            </a:r>
          </a:p>
          <a:p>
            <a:pPr marL="0" indent="0">
              <a:buNone/>
            </a:pPr>
            <a:r>
              <a:rPr lang="fr-FR" sz="1100" dirty="0"/>
              <a:t>&lt;titre&gt; Internet/Intranet et Bases de </a:t>
            </a:r>
            <a:r>
              <a:rPr lang="fr-FR" sz="1100" dirty="0" err="1"/>
              <a:t>Donn</a:t>
            </a:r>
            <a:r>
              <a:rPr lang="fr-FR" sz="1100" dirty="0"/>
              <a:t>\</a:t>
            </a:r>
            <a:r>
              <a:rPr lang="fr-FR" sz="1100" dirty="0" err="1"/>
              <a:t>ées</a:t>
            </a:r>
            <a:r>
              <a:rPr lang="fr-FR" sz="1100" dirty="0"/>
              <a:t> &lt;/titre&gt;</a:t>
            </a:r>
          </a:p>
          <a:p>
            <a:pPr marL="0" indent="0">
              <a:buNone/>
            </a:pPr>
            <a:r>
              <a:rPr lang="fr-FR" sz="1100" dirty="0"/>
              <a:t>&lt;</a:t>
            </a:r>
            <a:r>
              <a:rPr lang="fr-FR" sz="1100" dirty="0" err="1"/>
              <a:t>edition</a:t>
            </a:r>
            <a:r>
              <a:rPr lang="fr-FR" sz="1100" dirty="0"/>
              <a:t>&gt;</a:t>
            </a:r>
          </a:p>
          <a:p>
            <a:pPr marL="0" indent="0">
              <a:buNone/>
            </a:pPr>
            <a:r>
              <a:rPr lang="fr-FR" sz="1100" dirty="0"/>
              <a:t>&lt;nom-</a:t>
            </a:r>
            <a:r>
              <a:rPr lang="fr-FR" sz="1100" dirty="0" err="1"/>
              <a:t>ed</a:t>
            </a:r>
            <a:r>
              <a:rPr lang="fr-FR" sz="1100" dirty="0"/>
              <a:t>&gt; </a:t>
            </a:r>
            <a:r>
              <a:rPr lang="fr-FR" sz="1100" dirty="0" err="1"/>
              <a:t>Eyrolles</a:t>
            </a:r>
            <a:r>
              <a:rPr lang="fr-FR" sz="1100" dirty="0"/>
              <a:t> &lt;/nom-</a:t>
            </a:r>
            <a:r>
              <a:rPr lang="fr-FR" sz="1100" dirty="0" err="1"/>
              <a:t>ed</a:t>
            </a:r>
            <a:r>
              <a:rPr lang="fr-FR" sz="1100" dirty="0"/>
              <a:t>&gt;</a:t>
            </a:r>
          </a:p>
          <a:p>
            <a:pPr marL="0" indent="0">
              <a:buNone/>
            </a:pPr>
            <a:r>
              <a:rPr lang="fr-FR" sz="1100" dirty="0"/>
              <a:t>&lt;adresse-</a:t>
            </a:r>
            <a:r>
              <a:rPr lang="fr-FR" sz="1100" dirty="0" err="1"/>
              <a:t>edition</a:t>
            </a:r>
            <a:r>
              <a:rPr lang="fr-FR" sz="1100" dirty="0"/>
              <a:t>&gt;</a:t>
            </a:r>
          </a:p>
          <a:p>
            <a:pPr marL="0" indent="0">
              <a:buNone/>
            </a:pPr>
            <a:r>
              <a:rPr lang="en-US" sz="1100" dirty="0"/>
              <a:t>&lt;rue-</a:t>
            </a:r>
            <a:r>
              <a:rPr lang="en-US" sz="1100" dirty="0" err="1"/>
              <a:t>ed</a:t>
            </a:r>
            <a:r>
              <a:rPr lang="en-US" sz="1100" dirty="0"/>
              <a:t>&gt; 61, </a:t>
            </a:r>
            <a:r>
              <a:rPr lang="en-US" sz="1100" dirty="0" err="1"/>
              <a:t>Bld</a:t>
            </a:r>
            <a:r>
              <a:rPr lang="en-US" sz="1100" dirty="0"/>
              <a:t> Saint </a:t>
            </a:r>
            <a:r>
              <a:rPr lang="en-US" sz="1100" dirty="0" err="1"/>
              <a:t>Germain</a:t>
            </a:r>
            <a:r>
              <a:rPr lang="en-US" sz="1100" dirty="0"/>
              <a:t> &lt;/rue-</a:t>
            </a:r>
            <a:r>
              <a:rPr lang="en-US" sz="1100" dirty="0" err="1"/>
              <a:t>ed</a:t>
            </a:r>
            <a:r>
              <a:rPr lang="en-US" sz="1100" dirty="0"/>
              <a:t>&gt;</a:t>
            </a:r>
          </a:p>
          <a:p>
            <a:pPr marL="0" indent="0">
              <a:buNone/>
            </a:pPr>
            <a:r>
              <a:rPr lang="fr-FR" sz="1100" dirty="0"/>
              <a:t>&lt;ville-</a:t>
            </a:r>
            <a:r>
              <a:rPr lang="fr-FR" sz="1100" dirty="0" err="1"/>
              <a:t>ed</a:t>
            </a:r>
            <a:r>
              <a:rPr lang="fr-FR" sz="1100" dirty="0"/>
              <a:t>&gt; Paris &lt;/ville-</a:t>
            </a:r>
            <a:r>
              <a:rPr lang="fr-FR" sz="1100" dirty="0" err="1"/>
              <a:t>ed</a:t>
            </a:r>
            <a:r>
              <a:rPr lang="fr-FR" sz="1100" dirty="0"/>
              <a:t>&gt;</a:t>
            </a:r>
          </a:p>
          <a:p>
            <a:pPr marL="0" indent="0">
              <a:buNone/>
            </a:pPr>
            <a:endParaRPr lang="fr-FR" sz="1100" dirty="0"/>
          </a:p>
        </p:txBody>
      </p:sp>
    </p:spTree>
    <p:extLst>
      <p:ext uri="{BB962C8B-B14F-4D97-AF65-F5344CB8AC3E}">
        <p14:creationId xmlns:p14="http://schemas.microsoft.com/office/powerpoint/2010/main" val="3189090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10000"/>
          </a:bodyPr>
          <a:lstStyle/>
          <a:p>
            <a:pPr marL="0" indent="0">
              <a:buNone/>
            </a:pPr>
            <a:r>
              <a:rPr lang="fr-FR" dirty="0"/>
              <a:t>Dans les exemples vus jusqu’à ici, les données sont organisées en arbres. Les références produisent des </a:t>
            </a:r>
            <a:r>
              <a:rPr lang="fr-FR" b="1" u="sng" dirty="0"/>
              <a:t>graphes</a:t>
            </a:r>
            <a:r>
              <a:rPr lang="fr-FR" dirty="0"/>
              <a:t>.</a:t>
            </a:r>
          </a:p>
          <a:p>
            <a:pPr marL="0" indent="0">
              <a:buNone/>
            </a:pPr>
            <a:r>
              <a:rPr lang="fr-FR" dirty="0"/>
              <a:t>On peut faire référence à un sommet déjà existant dans le graphe car on peut associer à un </a:t>
            </a:r>
            <a:r>
              <a:rPr lang="fr-FR" b="1" u="sng" dirty="0"/>
              <a:t>identificateur</a:t>
            </a:r>
            <a:r>
              <a:rPr lang="fr-FR" dirty="0"/>
              <a:t> à chaque élément.</a:t>
            </a:r>
          </a:p>
          <a:p>
            <a:pPr marL="0" indent="0">
              <a:buNone/>
            </a:pPr>
            <a:r>
              <a:rPr lang="fr-FR" dirty="0"/>
              <a:t>Pour “pointer” vers un élément ayant identificateur, disons </a:t>
            </a:r>
            <a:r>
              <a:rPr lang="fr-FR" b="1" u="sng" dirty="0" err="1"/>
              <a:t>cle</a:t>
            </a:r>
            <a:r>
              <a:rPr lang="fr-FR" dirty="0"/>
              <a:t> (nom choisi par l’auteur), on exploite l’existence des </a:t>
            </a:r>
            <a:r>
              <a:rPr lang="fr-FR" b="1" u="sng" dirty="0"/>
              <a:t>attributs</a:t>
            </a:r>
            <a:r>
              <a:rPr lang="fr-FR" dirty="0"/>
              <a:t> XML.</a:t>
            </a:r>
          </a:p>
          <a:p>
            <a:pPr marL="0" indent="0">
              <a:buNone/>
            </a:pPr>
            <a:r>
              <a:rPr lang="fr-FR" dirty="0"/>
              <a:t>En général, un attribut XML sert à définir une </a:t>
            </a:r>
            <a:r>
              <a:rPr lang="fr-FR" b="1" u="sng" dirty="0" err="1"/>
              <a:t>proprieté</a:t>
            </a:r>
            <a:r>
              <a:rPr lang="fr-FR" b="1" u="sng" dirty="0"/>
              <a:t> des données</a:t>
            </a:r>
            <a:r>
              <a:rPr lang="fr-FR" dirty="0"/>
              <a:t>; sa valeur est une chaîne de caractères. </a:t>
            </a:r>
          </a:p>
        </p:txBody>
      </p:sp>
    </p:spTree>
    <p:extLst>
      <p:ext uri="{BB962C8B-B14F-4D97-AF65-F5344CB8AC3E}">
        <p14:creationId xmlns:p14="http://schemas.microsoft.com/office/powerpoint/2010/main" val="3840886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(6)</a:t>
            </a:r>
            <a:endParaRPr lang="fr-FR" dirty="0"/>
          </a:p>
        </p:txBody>
      </p:sp>
      <p:sp>
        <p:nvSpPr>
          <p:cNvPr id="3" name="Espace réservé du contenu 2"/>
          <p:cNvSpPr>
            <a:spLocks noGrp="1"/>
          </p:cNvSpPr>
          <p:nvPr>
            <p:ph idx="1"/>
          </p:nvPr>
        </p:nvSpPr>
        <p:spPr/>
        <p:txBody>
          <a:bodyPr>
            <a:normAutofit fontScale="92500" lnSpcReduction="20000"/>
          </a:bodyPr>
          <a:lstStyle/>
          <a:p>
            <a:pPr marL="0" indent="0">
              <a:buNone/>
            </a:pPr>
            <a:r>
              <a:rPr lang="fr-FR" dirty="0"/>
              <a:t>Pour identifier un élément il suffit d’utiliser un attribut dont le type déclaré (</a:t>
            </a:r>
            <a:r>
              <a:rPr lang="fr-FR" dirty="0" err="1"/>
              <a:t>o`u</a:t>
            </a:r>
            <a:r>
              <a:rPr lang="fr-FR" dirty="0"/>
              <a:t> ?) est ID :</a:t>
            </a:r>
          </a:p>
          <a:p>
            <a:pPr marL="400050" lvl="1" indent="0">
              <a:buNone/>
            </a:pPr>
            <a:r>
              <a:rPr lang="fr-FR" dirty="0"/>
              <a:t>&lt;balise attribut=valeur&gt; &lt;/balise&gt; marche, `a condition que attribut soit de type ID.</a:t>
            </a:r>
          </a:p>
          <a:p>
            <a:pPr marL="0" indent="0">
              <a:buNone/>
            </a:pPr>
            <a:r>
              <a:rPr lang="fr-FR" dirty="0"/>
              <a:t>La syntaxe abrégée  &lt;balise attribut=valeur/&gt; est aussi possible.</a:t>
            </a:r>
          </a:p>
          <a:p>
            <a:pPr marL="0" indent="0">
              <a:buNone/>
            </a:pPr>
            <a:r>
              <a:rPr lang="fr-FR" dirty="0"/>
              <a:t>Par ex. :</a:t>
            </a:r>
          </a:p>
          <a:p>
            <a:pPr marL="0" indent="0">
              <a:buNone/>
            </a:pPr>
            <a:r>
              <a:rPr lang="fr-FR" dirty="0"/>
              <a:t>&lt;Livre ISBN="isbn-95456255"/&gt;</a:t>
            </a:r>
          </a:p>
          <a:p>
            <a:pPr marL="0" indent="0">
              <a:buNone/>
            </a:pPr>
            <a:r>
              <a:rPr lang="fr-FR" dirty="0"/>
              <a:t>C’est dans le schéma du document XML (voir après) que l’on on déclare l’attribut ISBN comme ayant le type ID.</a:t>
            </a:r>
          </a:p>
          <a:p>
            <a:pPr marL="0" indent="0">
              <a:buNone/>
            </a:pPr>
            <a:endParaRPr lang="fr-FR" dirty="0"/>
          </a:p>
        </p:txBody>
      </p:sp>
    </p:spTree>
    <p:extLst>
      <p:ext uri="{BB962C8B-B14F-4D97-AF65-F5344CB8AC3E}">
        <p14:creationId xmlns:p14="http://schemas.microsoft.com/office/powerpoint/2010/main" val="3546182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Syntaxe de base de XML (7)</a:t>
            </a:r>
            <a:endParaRPr lang="fr-FR" dirty="0"/>
          </a:p>
        </p:txBody>
      </p:sp>
      <p:sp>
        <p:nvSpPr>
          <p:cNvPr id="3" name="Espace réservé du contenu 2"/>
          <p:cNvSpPr>
            <a:spLocks noGrp="1"/>
          </p:cNvSpPr>
          <p:nvPr>
            <p:ph idx="1"/>
          </p:nvPr>
        </p:nvSpPr>
        <p:spPr>
          <a:xfrm>
            <a:off x="467544" y="1628800"/>
            <a:ext cx="8229600" cy="4525963"/>
          </a:xfrm>
        </p:spPr>
        <p:txBody>
          <a:bodyPr>
            <a:noAutofit/>
          </a:bodyPr>
          <a:lstStyle/>
          <a:p>
            <a:pPr marL="0" indent="0">
              <a:buNone/>
            </a:pPr>
            <a:r>
              <a:rPr lang="fr-FR" sz="2000" dirty="0"/>
              <a:t>Pour faire référence `a un élément on utilise un attribut de type IDREF :</a:t>
            </a:r>
          </a:p>
          <a:p>
            <a:pPr marL="0" indent="0">
              <a:buNone/>
            </a:pPr>
            <a:r>
              <a:rPr lang="fr-FR" sz="2000" dirty="0"/>
              <a:t>&lt;balise </a:t>
            </a:r>
            <a:r>
              <a:rPr lang="fr-FR" sz="2000" dirty="0" err="1"/>
              <a:t>attributRef</a:t>
            </a:r>
            <a:r>
              <a:rPr lang="fr-FR" sz="2000" dirty="0"/>
              <a:t>= identificateur&gt; &lt;/balise&gt;</a:t>
            </a:r>
          </a:p>
          <a:p>
            <a:pPr marL="0" indent="0">
              <a:buNone/>
            </a:pPr>
            <a:r>
              <a:rPr lang="fr-FR" sz="2000" dirty="0"/>
              <a:t>La syntaxe abrégée</a:t>
            </a:r>
          </a:p>
          <a:p>
            <a:pPr marL="0" indent="0">
              <a:buNone/>
            </a:pPr>
            <a:r>
              <a:rPr lang="fr-FR" sz="2000" dirty="0"/>
              <a:t>&lt;balise </a:t>
            </a:r>
            <a:r>
              <a:rPr lang="fr-FR" sz="2000" dirty="0" err="1"/>
              <a:t>attributRef</a:t>
            </a:r>
            <a:r>
              <a:rPr lang="fr-FR" sz="2000" dirty="0"/>
              <a:t>= identificateur /balise&gt;</a:t>
            </a:r>
          </a:p>
          <a:p>
            <a:pPr marL="0" indent="0">
              <a:buNone/>
            </a:pPr>
            <a:r>
              <a:rPr lang="fr-FR" sz="2000" dirty="0"/>
              <a:t>est aussi possible.</a:t>
            </a:r>
          </a:p>
          <a:p>
            <a:pPr marL="0" indent="0">
              <a:buNone/>
            </a:pPr>
            <a:r>
              <a:rPr lang="fr-FR" sz="2000" dirty="0"/>
              <a:t>Par ex :</a:t>
            </a:r>
          </a:p>
          <a:p>
            <a:pPr marL="0" indent="0">
              <a:buNone/>
            </a:pPr>
            <a:r>
              <a:rPr lang="fr-FR" sz="2000" dirty="0"/>
              <a:t>&lt;Edition Editeur="</a:t>
            </a:r>
            <a:r>
              <a:rPr lang="fr-FR" sz="2000" dirty="0" err="1"/>
              <a:t>LinuxFrench</a:t>
            </a:r>
            <a:r>
              <a:rPr lang="fr-FR" sz="2000" dirty="0"/>
              <a:t> Edition1" </a:t>
            </a:r>
            <a:r>
              <a:rPr lang="fr-FR" sz="2000" dirty="0" err="1"/>
              <a:t>EditeurRef</a:t>
            </a:r>
            <a:r>
              <a:rPr lang="fr-FR" sz="2000" dirty="0"/>
              <a:t>= "LFNET" /&gt; Ici, on</a:t>
            </a:r>
          </a:p>
          <a:p>
            <a:pPr marL="0" indent="0">
              <a:buNone/>
            </a:pPr>
            <a:r>
              <a:rPr lang="fr-FR" sz="2000" dirty="0"/>
              <a:t>déclarera l’attribut </a:t>
            </a:r>
            <a:r>
              <a:rPr lang="fr-FR" sz="2000" dirty="0" err="1"/>
              <a:t>EditeurRef</a:t>
            </a:r>
            <a:r>
              <a:rPr lang="fr-FR" sz="2000" dirty="0"/>
              <a:t> comme ayant le type IDREF.</a:t>
            </a:r>
          </a:p>
          <a:p>
            <a:pPr marL="0" indent="0">
              <a:buNone/>
            </a:pPr>
            <a:r>
              <a:rPr lang="fr-FR" sz="2000" dirty="0"/>
              <a:t>Un élément de la forme :</a:t>
            </a:r>
          </a:p>
          <a:p>
            <a:pPr marL="0" indent="0">
              <a:buNone/>
            </a:pPr>
            <a:r>
              <a:rPr lang="fr-FR" sz="2000" dirty="0"/>
              <a:t>&lt;balise </a:t>
            </a:r>
            <a:r>
              <a:rPr lang="fr-FR" sz="2000" dirty="0" err="1"/>
              <a:t>attributRef</a:t>
            </a:r>
            <a:r>
              <a:rPr lang="fr-FR" sz="2000" dirty="0"/>
              <a:t>= identificateur /balise&gt;</a:t>
            </a:r>
          </a:p>
          <a:p>
            <a:pPr marL="0" indent="0">
              <a:buNone/>
            </a:pPr>
            <a:r>
              <a:rPr lang="fr-FR" sz="2000" dirty="0"/>
              <a:t>où </a:t>
            </a:r>
            <a:r>
              <a:rPr lang="fr-FR" sz="2000" dirty="0" err="1"/>
              <a:t>attributRef</a:t>
            </a:r>
            <a:r>
              <a:rPr lang="fr-FR" sz="2000" dirty="0"/>
              <a:t> est de type IDREF n’a pas de contenu. Il est dit élément</a:t>
            </a:r>
          </a:p>
          <a:p>
            <a:pPr marL="0" indent="0">
              <a:buNone/>
            </a:pPr>
            <a:r>
              <a:rPr lang="fr-FR" sz="2000" dirty="0"/>
              <a:t>vide.</a:t>
            </a:r>
          </a:p>
        </p:txBody>
      </p:sp>
    </p:spTree>
    <p:extLst>
      <p:ext uri="{BB962C8B-B14F-4D97-AF65-F5344CB8AC3E}">
        <p14:creationId xmlns:p14="http://schemas.microsoft.com/office/powerpoint/2010/main" val="4086346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88640"/>
            <a:ext cx="8229600" cy="6336704"/>
          </a:xfrm>
        </p:spPr>
        <p:txBody>
          <a:bodyPr>
            <a:noAutofit/>
          </a:bodyPr>
          <a:lstStyle/>
          <a:p>
            <a:pPr marL="0" indent="0">
              <a:buNone/>
            </a:pPr>
            <a:r>
              <a:rPr lang="fr-FR" sz="1100" dirty="0" err="1"/>
              <a:t>Example</a:t>
            </a:r>
            <a:r>
              <a:rPr lang="fr-FR" sz="1100" dirty="0"/>
              <a:t> 7</a:t>
            </a:r>
          </a:p>
          <a:p>
            <a:pPr marL="0" indent="0">
              <a:buNone/>
            </a:pPr>
            <a:r>
              <a:rPr lang="fr-FR" sz="1600" dirty="0"/>
              <a:t>&lt;</a:t>
            </a:r>
            <a:r>
              <a:rPr lang="fr-FR" sz="1600" dirty="0" err="1"/>
              <a:t>geographie</a:t>
            </a:r>
            <a:r>
              <a:rPr lang="fr-FR" sz="1600" dirty="0"/>
              <a:t>-USA&gt;</a:t>
            </a:r>
          </a:p>
          <a:p>
            <a:pPr marL="0" indent="0">
              <a:buNone/>
            </a:pPr>
            <a:r>
              <a:rPr lang="fr-FR" sz="1100" dirty="0"/>
              <a:t>&lt;/</a:t>
            </a:r>
            <a:r>
              <a:rPr lang="fr-FR" sz="1100" dirty="0" err="1"/>
              <a:t>etats</a:t>
            </a:r>
            <a:r>
              <a:rPr lang="fr-FR" sz="1100" dirty="0"/>
              <a:t>&gt;</a:t>
            </a:r>
          </a:p>
          <a:p>
            <a:pPr marL="0" indent="0">
              <a:buNone/>
            </a:pPr>
            <a:r>
              <a:rPr lang="fr-FR" sz="1100" dirty="0"/>
              <a:t>&lt;</a:t>
            </a:r>
            <a:r>
              <a:rPr lang="fr-FR" sz="1100" dirty="0" err="1"/>
              <a:t>etat</a:t>
            </a:r>
            <a:r>
              <a:rPr lang="fr-FR" sz="1100" dirty="0"/>
              <a:t>&gt;</a:t>
            </a:r>
          </a:p>
          <a:p>
            <a:pPr marL="0" indent="0">
              <a:buNone/>
            </a:pPr>
            <a:r>
              <a:rPr lang="fr-FR" sz="1100" dirty="0"/>
              <a:t>&lt;</a:t>
            </a:r>
            <a:r>
              <a:rPr lang="fr-FR" sz="1100" dirty="0" err="1"/>
              <a:t>etat</a:t>
            </a:r>
            <a:r>
              <a:rPr lang="fr-FR" sz="1100" dirty="0"/>
              <a:t> </a:t>
            </a:r>
            <a:r>
              <a:rPr lang="fr-FR" sz="1100" dirty="0" err="1"/>
              <a:t>cle</a:t>
            </a:r>
            <a:r>
              <a:rPr lang="fr-FR" sz="1100" dirty="0"/>
              <a:t> = ’’e1’’&gt;</a:t>
            </a:r>
          </a:p>
          <a:p>
            <a:pPr marL="0" indent="0">
              <a:buNone/>
            </a:pPr>
            <a:r>
              <a:rPr lang="fr-FR" sz="1100" dirty="0"/>
              <a:t>&lt;code-</a:t>
            </a:r>
            <a:r>
              <a:rPr lang="fr-FR" sz="1100" dirty="0" err="1"/>
              <a:t>etat</a:t>
            </a:r>
            <a:r>
              <a:rPr lang="fr-FR" sz="1100" dirty="0"/>
              <a:t>&gt; IDA &lt;/code-</a:t>
            </a:r>
            <a:r>
              <a:rPr lang="fr-FR" sz="1100" dirty="0" err="1"/>
              <a:t>etat</a:t>
            </a:r>
            <a:r>
              <a:rPr lang="fr-FR" sz="1100" dirty="0"/>
              <a:t>&gt;</a:t>
            </a:r>
          </a:p>
          <a:p>
            <a:pPr marL="0" indent="0">
              <a:buNone/>
            </a:pPr>
            <a:r>
              <a:rPr lang="fr-FR" sz="1100" dirty="0"/>
              <a:t>&lt;nom-</a:t>
            </a:r>
            <a:r>
              <a:rPr lang="fr-FR" sz="1100" dirty="0" err="1"/>
              <a:t>etat</a:t>
            </a:r>
            <a:r>
              <a:rPr lang="fr-FR" sz="1100" dirty="0"/>
              <a:t>&gt; Idaho &lt;/nom-</a:t>
            </a:r>
            <a:r>
              <a:rPr lang="fr-FR" sz="1100" dirty="0" err="1"/>
              <a:t>etat</a:t>
            </a:r>
            <a:r>
              <a:rPr lang="fr-FR" sz="1100" dirty="0"/>
              <a:t>&gt;</a:t>
            </a:r>
          </a:p>
          <a:p>
            <a:pPr marL="0" indent="0">
              <a:buNone/>
            </a:pPr>
            <a:r>
              <a:rPr lang="fr-FR" sz="1100" dirty="0"/>
              <a:t>&lt;capitale </a:t>
            </a:r>
            <a:r>
              <a:rPr lang="fr-FR" sz="1100" dirty="0" err="1"/>
              <a:t>ref</a:t>
            </a:r>
            <a:r>
              <a:rPr lang="fr-FR" sz="1100" dirty="0"/>
              <a:t>-cap = ’’v1’ /&gt;</a:t>
            </a:r>
          </a:p>
          <a:p>
            <a:pPr marL="0" indent="0">
              <a:buNone/>
            </a:pPr>
            <a:r>
              <a:rPr lang="fr-FR" sz="1100" dirty="0"/>
              <a:t>&lt;villes-dans </a:t>
            </a:r>
            <a:r>
              <a:rPr lang="fr-FR" sz="1100" dirty="0" err="1"/>
              <a:t>ref</a:t>
            </a:r>
            <a:r>
              <a:rPr lang="fr-FR" sz="1100" dirty="0"/>
              <a:t>-a-villes = ’’v1’’ /&gt;</a:t>
            </a:r>
          </a:p>
          <a:p>
            <a:pPr marL="0" indent="0">
              <a:buNone/>
            </a:pPr>
            <a:r>
              <a:rPr lang="fr-FR" sz="1100" dirty="0"/>
              <a:t>&lt;villes-dans </a:t>
            </a:r>
            <a:r>
              <a:rPr lang="fr-FR" sz="1100" dirty="0" err="1"/>
              <a:t>ref</a:t>
            </a:r>
            <a:r>
              <a:rPr lang="fr-FR" sz="1100" dirty="0"/>
              <a:t>-a-villes = ’’v3’’ /&gt;</a:t>
            </a:r>
          </a:p>
          <a:p>
            <a:pPr marL="0" indent="0">
              <a:buNone/>
            </a:pPr>
            <a:r>
              <a:rPr lang="fr-FR" sz="1100" dirty="0"/>
              <a:t>...</a:t>
            </a:r>
          </a:p>
          <a:p>
            <a:pPr marL="0" indent="0">
              <a:buNone/>
            </a:pPr>
            <a:r>
              <a:rPr lang="fr-FR" sz="1100" dirty="0"/>
              <a:t>&lt;/</a:t>
            </a:r>
            <a:r>
              <a:rPr lang="fr-FR" sz="1100" dirty="0" err="1"/>
              <a:t>etat</a:t>
            </a:r>
            <a:r>
              <a:rPr lang="fr-FR" sz="1100" dirty="0"/>
              <a:t>&gt;</a:t>
            </a:r>
          </a:p>
          <a:p>
            <a:pPr marL="0" indent="0">
              <a:buNone/>
            </a:pPr>
            <a:r>
              <a:rPr lang="fr-FR" sz="1100" dirty="0"/>
              <a:t>&lt;</a:t>
            </a:r>
            <a:r>
              <a:rPr lang="fr-FR" sz="1100" dirty="0" err="1"/>
              <a:t>etat</a:t>
            </a:r>
            <a:r>
              <a:rPr lang="fr-FR" sz="1100" dirty="0"/>
              <a:t>&gt;</a:t>
            </a:r>
          </a:p>
          <a:p>
            <a:pPr marL="0" indent="0">
              <a:buNone/>
            </a:pPr>
            <a:r>
              <a:rPr lang="fr-FR" sz="1100" dirty="0"/>
              <a:t>...</a:t>
            </a:r>
          </a:p>
          <a:p>
            <a:pPr marL="0" indent="0">
              <a:buNone/>
            </a:pPr>
            <a:r>
              <a:rPr lang="fr-FR" sz="1100" dirty="0"/>
              <a:t>&lt;/</a:t>
            </a:r>
            <a:r>
              <a:rPr lang="fr-FR" sz="1100" dirty="0" err="1"/>
              <a:t>etat</a:t>
            </a:r>
            <a:r>
              <a:rPr lang="fr-FR" sz="1100" dirty="0"/>
              <a:t>&gt;</a:t>
            </a:r>
          </a:p>
          <a:p>
            <a:pPr marL="0" indent="0">
              <a:buNone/>
            </a:pPr>
            <a:r>
              <a:rPr lang="fr-FR" sz="1100" dirty="0"/>
              <a:t>&lt;/</a:t>
            </a:r>
            <a:r>
              <a:rPr lang="fr-FR" sz="1100" dirty="0" err="1"/>
              <a:t>etats</a:t>
            </a:r>
            <a:r>
              <a:rPr lang="fr-FR" sz="1100" dirty="0"/>
              <a:t>&gt;</a:t>
            </a:r>
          </a:p>
          <a:p>
            <a:pPr marL="0" indent="0">
              <a:buNone/>
            </a:pPr>
            <a:r>
              <a:rPr lang="fr-FR" sz="1100" dirty="0"/>
              <a:t>&lt;villes&gt;</a:t>
            </a:r>
          </a:p>
          <a:p>
            <a:pPr marL="0" indent="0">
              <a:buNone/>
            </a:pPr>
            <a:r>
              <a:rPr lang="fr-FR" sz="1100" dirty="0"/>
              <a:t>&lt;ville&gt;</a:t>
            </a:r>
          </a:p>
          <a:p>
            <a:pPr marL="0" indent="0">
              <a:buNone/>
            </a:pPr>
            <a:r>
              <a:rPr lang="fr-FR" sz="1100" dirty="0"/>
              <a:t>&lt;ville </a:t>
            </a:r>
            <a:r>
              <a:rPr lang="fr-FR" sz="1100" dirty="0" err="1"/>
              <a:t>iden</a:t>
            </a:r>
            <a:r>
              <a:rPr lang="fr-FR" sz="1100" dirty="0"/>
              <a:t> = ’’v1’’&gt;</a:t>
            </a:r>
          </a:p>
          <a:p>
            <a:pPr marL="0" indent="0">
              <a:buNone/>
            </a:pPr>
            <a:r>
              <a:rPr lang="fr-FR" sz="1100" dirty="0"/>
              <a:t>&lt;code-ville&gt; BOI &lt;/code-ville&gt;</a:t>
            </a:r>
          </a:p>
          <a:p>
            <a:pPr marL="0" indent="0">
              <a:buNone/>
            </a:pPr>
            <a:r>
              <a:rPr lang="fr-FR" sz="1100" dirty="0"/>
              <a:t>&lt;nom-ville&gt; Boise &lt;/nom-ville&gt;</a:t>
            </a:r>
          </a:p>
          <a:p>
            <a:pPr marL="0" indent="0">
              <a:buNone/>
            </a:pPr>
            <a:r>
              <a:rPr lang="fr-FR" sz="1100" dirty="0"/>
              <a:t>&lt;</a:t>
            </a:r>
            <a:r>
              <a:rPr lang="fr-FR" sz="1100" dirty="0" err="1"/>
              <a:t>etat</a:t>
            </a:r>
            <a:r>
              <a:rPr lang="fr-FR" sz="1100" dirty="0"/>
              <a:t>-de-la-ville </a:t>
            </a:r>
            <a:r>
              <a:rPr lang="fr-FR" sz="1100" dirty="0" err="1"/>
              <a:t>ref</a:t>
            </a:r>
            <a:r>
              <a:rPr lang="fr-FR" sz="1100" dirty="0"/>
              <a:t>-a-</a:t>
            </a:r>
            <a:r>
              <a:rPr lang="fr-FR" sz="1100" dirty="0" err="1"/>
              <a:t>etat</a:t>
            </a:r>
            <a:r>
              <a:rPr lang="fr-FR" sz="1100" dirty="0"/>
              <a:t> = ’’e1’’ /&gt;</a:t>
            </a:r>
          </a:p>
          <a:p>
            <a:pPr marL="0" indent="0">
              <a:buNone/>
            </a:pPr>
            <a:r>
              <a:rPr lang="fr-FR" sz="1100" dirty="0"/>
              <a:t>&lt;/ville&gt;</a:t>
            </a:r>
          </a:p>
          <a:p>
            <a:pPr marL="0" indent="0">
              <a:buNone/>
            </a:pPr>
            <a:r>
              <a:rPr lang="fr-FR" sz="1100" dirty="0"/>
              <a:t>&lt;ville&gt;</a:t>
            </a:r>
          </a:p>
          <a:p>
            <a:pPr marL="0" indent="0">
              <a:buNone/>
            </a:pPr>
            <a:r>
              <a:rPr lang="fr-FR" sz="1100" dirty="0"/>
              <a:t>&lt;ville </a:t>
            </a:r>
            <a:r>
              <a:rPr lang="fr-FR" sz="1100" dirty="0" err="1"/>
              <a:t>iden</a:t>
            </a:r>
            <a:r>
              <a:rPr lang="fr-FR" sz="1100" dirty="0"/>
              <a:t> = ’’v2’’&gt;</a:t>
            </a:r>
          </a:p>
          <a:p>
            <a:pPr marL="0" indent="0">
              <a:buNone/>
            </a:pPr>
            <a:r>
              <a:rPr lang="fr-FR" sz="1100" dirty="0"/>
              <a:t>&lt;code-ville&gt; CCN &lt;/code-ville&gt;</a:t>
            </a:r>
          </a:p>
          <a:p>
            <a:pPr marL="0" indent="0">
              <a:buNone/>
            </a:pPr>
            <a:r>
              <a:rPr lang="fr-FR" sz="1100" dirty="0"/>
              <a:t>&lt;nom-ville&gt; Carson City &lt;/nom-ville&gt;</a:t>
            </a:r>
          </a:p>
          <a:p>
            <a:pPr marL="0" indent="0">
              <a:buNone/>
            </a:pPr>
            <a:r>
              <a:rPr lang="fr-FR" sz="1100" dirty="0"/>
              <a:t>&lt;</a:t>
            </a:r>
            <a:r>
              <a:rPr lang="fr-FR" sz="1100" dirty="0" err="1"/>
              <a:t>etat</a:t>
            </a:r>
            <a:r>
              <a:rPr lang="fr-FR" sz="1100" dirty="0"/>
              <a:t>-de-la-ville </a:t>
            </a:r>
            <a:r>
              <a:rPr lang="fr-FR" sz="1100" dirty="0" err="1"/>
              <a:t>ref</a:t>
            </a:r>
            <a:r>
              <a:rPr lang="fr-FR" sz="1100" dirty="0"/>
              <a:t>-a-</a:t>
            </a:r>
            <a:r>
              <a:rPr lang="fr-FR" sz="1100" dirty="0" err="1"/>
              <a:t>etat</a:t>
            </a:r>
            <a:r>
              <a:rPr lang="fr-FR" sz="1100" dirty="0"/>
              <a:t> = ’’e2’’ /&gt;</a:t>
            </a:r>
          </a:p>
          <a:p>
            <a:pPr marL="0" indent="0">
              <a:buNone/>
            </a:pPr>
            <a:r>
              <a:rPr lang="fr-FR" sz="1100" dirty="0"/>
              <a:t>&lt;/ville&gt;</a:t>
            </a:r>
          </a:p>
          <a:p>
            <a:pPr marL="0" indent="0">
              <a:buNone/>
            </a:pPr>
            <a:r>
              <a:rPr lang="fr-FR" sz="1100" dirty="0"/>
              <a:t>&lt;ville&gt;</a:t>
            </a:r>
          </a:p>
          <a:p>
            <a:pPr marL="0" indent="0">
              <a:buNone/>
            </a:pPr>
            <a:r>
              <a:rPr lang="fr-FR" sz="1100" dirty="0"/>
              <a:t>&lt;ville </a:t>
            </a:r>
            <a:r>
              <a:rPr lang="fr-FR" sz="1100" dirty="0" err="1"/>
              <a:t>iden</a:t>
            </a:r>
            <a:r>
              <a:rPr lang="fr-FR" sz="1100" dirty="0"/>
              <a:t> = ’’v3’’&gt;</a:t>
            </a:r>
          </a:p>
          <a:p>
            <a:pPr marL="0" indent="0">
              <a:buNone/>
            </a:pPr>
            <a:r>
              <a:rPr lang="fr-FR" sz="1100" dirty="0"/>
              <a:t>&lt;code-ville&gt; MO &lt;/code-ville&gt;</a:t>
            </a:r>
          </a:p>
        </p:txBody>
      </p:sp>
    </p:spTree>
    <p:extLst>
      <p:ext uri="{BB962C8B-B14F-4D97-AF65-F5344CB8AC3E}">
        <p14:creationId xmlns:p14="http://schemas.microsoft.com/office/powerpoint/2010/main" val="318139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None/>
            </a:pPr>
            <a:r>
              <a:rPr lang="fr-FR" dirty="0"/>
              <a:t>&lt;nom-ville&gt; Moscow &lt;/nom-ville&gt;</a:t>
            </a:r>
          </a:p>
          <a:p>
            <a:pPr marL="0" indent="0">
              <a:buNone/>
            </a:pPr>
            <a:r>
              <a:rPr lang="fr-FR" dirty="0"/>
              <a:t>&lt;</a:t>
            </a:r>
            <a:r>
              <a:rPr lang="fr-FR" dirty="0" err="1"/>
              <a:t>etat</a:t>
            </a:r>
            <a:r>
              <a:rPr lang="fr-FR" dirty="0"/>
              <a:t>-de-la-ville </a:t>
            </a:r>
            <a:r>
              <a:rPr lang="fr-FR" dirty="0" err="1"/>
              <a:t>ref</a:t>
            </a:r>
            <a:r>
              <a:rPr lang="fr-FR" dirty="0"/>
              <a:t> = ’’e1’’ /&gt;</a:t>
            </a:r>
          </a:p>
          <a:p>
            <a:pPr marL="0" indent="0">
              <a:buNone/>
            </a:pPr>
            <a:r>
              <a:rPr lang="fr-FR" dirty="0"/>
              <a:t>&lt;/ville&gt;</a:t>
            </a:r>
          </a:p>
          <a:p>
            <a:pPr marL="0" indent="0">
              <a:buNone/>
            </a:pPr>
            <a:r>
              <a:rPr lang="fr-FR" dirty="0"/>
              <a:t>...</a:t>
            </a:r>
          </a:p>
          <a:p>
            <a:pPr marL="0" indent="0">
              <a:buNone/>
            </a:pPr>
            <a:r>
              <a:rPr lang="fr-FR" dirty="0"/>
              <a:t>&lt;/villes&gt;</a:t>
            </a:r>
          </a:p>
          <a:p>
            <a:pPr marL="0" indent="0">
              <a:buNone/>
            </a:pPr>
            <a:r>
              <a:rPr lang="fr-FR" dirty="0"/>
              <a:t>&lt;/</a:t>
            </a:r>
            <a:r>
              <a:rPr lang="fr-FR" dirty="0" err="1"/>
              <a:t>geographie</a:t>
            </a:r>
            <a:r>
              <a:rPr lang="fr-FR" dirty="0"/>
              <a:t>-USA&gt;</a:t>
            </a:r>
          </a:p>
          <a:p>
            <a:pPr marL="0" indent="0">
              <a:buNone/>
            </a:pPr>
            <a:endParaRPr lang="fr-FR" dirty="0"/>
          </a:p>
        </p:txBody>
      </p:sp>
    </p:spTree>
    <p:extLst>
      <p:ext uri="{BB962C8B-B14F-4D97-AF65-F5344CB8AC3E}">
        <p14:creationId xmlns:p14="http://schemas.microsoft.com/office/powerpoint/2010/main" val="136282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Schémas XML (1)</a:t>
            </a:r>
          </a:p>
        </p:txBody>
      </p:sp>
      <p:sp>
        <p:nvSpPr>
          <p:cNvPr id="3" name="Espace réservé du contenu 2"/>
          <p:cNvSpPr>
            <a:spLocks noGrp="1"/>
          </p:cNvSpPr>
          <p:nvPr>
            <p:ph idx="1"/>
          </p:nvPr>
        </p:nvSpPr>
        <p:spPr/>
        <p:txBody>
          <a:bodyPr/>
          <a:lstStyle/>
          <a:p>
            <a:pPr marL="0" indent="0">
              <a:buNone/>
            </a:pPr>
            <a:r>
              <a:rPr lang="fr-FR" dirty="0"/>
              <a:t>1. Un DTD (Document Type </a:t>
            </a:r>
            <a:r>
              <a:rPr lang="fr-FR" dirty="0" err="1"/>
              <a:t>Definition</a:t>
            </a:r>
            <a:r>
              <a:rPr lang="fr-FR" dirty="0"/>
              <a:t>)</a:t>
            </a:r>
          </a:p>
          <a:p>
            <a:pPr marL="0" indent="0">
              <a:buNone/>
            </a:pPr>
            <a:r>
              <a:rPr lang="fr-FR" dirty="0"/>
              <a:t>2. Un XML-</a:t>
            </a:r>
            <a:r>
              <a:rPr lang="fr-FR" dirty="0" err="1"/>
              <a:t>schema</a:t>
            </a:r>
            <a:r>
              <a:rPr lang="fr-FR" dirty="0"/>
              <a:t>, qui a une structure de typage plus riche.</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2375664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Schémas XML (2)</a:t>
            </a:r>
            <a:endParaRPr lang="fr-FR" dirty="0"/>
          </a:p>
        </p:txBody>
      </p:sp>
      <p:sp>
        <p:nvSpPr>
          <p:cNvPr id="3" name="Espace réservé du contenu 2"/>
          <p:cNvSpPr>
            <a:spLocks noGrp="1"/>
          </p:cNvSpPr>
          <p:nvPr>
            <p:ph idx="1"/>
          </p:nvPr>
        </p:nvSpPr>
        <p:spPr/>
        <p:txBody>
          <a:bodyPr/>
          <a:lstStyle/>
          <a:p>
            <a:pPr marL="0" indent="0">
              <a:buNone/>
            </a:pPr>
            <a:r>
              <a:rPr lang="fr-FR" sz="3600" b="1" u="sng" dirty="0"/>
              <a:t>Les DTD</a:t>
            </a:r>
          </a:p>
          <a:p>
            <a:r>
              <a:rPr lang="fr-FR" dirty="0"/>
              <a:t>Un DTD peut être vu comme une sorte de schéma pour les données XML. Il est optionnel </a:t>
            </a:r>
            <a:r>
              <a:rPr lang="fr-FR" dirty="0">
                <a:sym typeface="Wingdings" pitchFamily="2" charset="2"/>
              </a:rPr>
              <a:t></a:t>
            </a:r>
            <a:r>
              <a:rPr lang="fr-FR" dirty="0"/>
              <a:t> données semi-structurées.</a:t>
            </a:r>
          </a:p>
          <a:p>
            <a:r>
              <a:rPr lang="fr-FR" dirty="0"/>
              <a:t>Une document XML qui, en outre d’être syntaxiquement correct, a un DTD, et le respecte, et dit </a:t>
            </a:r>
            <a:r>
              <a:rPr lang="fr-FR" b="1" i="1" u="sng" dirty="0"/>
              <a:t>valide</a:t>
            </a:r>
            <a:r>
              <a:rPr lang="fr-FR" dirty="0"/>
              <a:t>.</a:t>
            </a:r>
          </a:p>
          <a:p>
            <a:pPr marL="0" indent="0">
              <a:buNone/>
            </a:pPr>
            <a:endParaRPr lang="fr-FR" dirty="0"/>
          </a:p>
        </p:txBody>
      </p:sp>
    </p:spTree>
    <p:extLst>
      <p:ext uri="{BB962C8B-B14F-4D97-AF65-F5344CB8AC3E}">
        <p14:creationId xmlns:p14="http://schemas.microsoft.com/office/powerpoint/2010/main" val="291150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Schémas XML (3)</a:t>
            </a:r>
            <a:endParaRPr lang="fr-FR" dirty="0"/>
          </a:p>
        </p:txBody>
      </p:sp>
      <p:sp>
        <p:nvSpPr>
          <p:cNvPr id="3" name="Espace réservé du contenu 2"/>
          <p:cNvSpPr>
            <a:spLocks noGrp="1"/>
          </p:cNvSpPr>
          <p:nvPr>
            <p:ph idx="1"/>
          </p:nvPr>
        </p:nvSpPr>
        <p:spPr/>
        <p:txBody>
          <a:bodyPr>
            <a:normAutofit fontScale="85000" lnSpcReduction="10000"/>
          </a:bodyPr>
          <a:lstStyle/>
          <a:p>
            <a:pPr marL="0" indent="0">
              <a:buNone/>
            </a:pPr>
            <a:r>
              <a:rPr lang="fr-FR" b="1" u="sng" dirty="0" err="1"/>
              <a:t>Example</a:t>
            </a:r>
            <a:r>
              <a:rPr lang="fr-FR" b="1" u="sng" dirty="0"/>
              <a:t> 9</a:t>
            </a:r>
          </a:p>
          <a:p>
            <a:pPr marL="0" indent="0">
              <a:buNone/>
            </a:pPr>
            <a:r>
              <a:rPr lang="fr-FR" dirty="0"/>
              <a:t>&lt;!ELEMENT article</a:t>
            </a:r>
          </a:p>
          <a:p>
            <a:pPr marL="0" indent="0">
              <a:buNone/>
            </a:pPr>
            <a:r>
              <a:rPr lang="fr-FR" dirty="0"/>
              <a:t>(titre, sous-titre?, auteur*, (</a:t>
            </a:r>
            <a:r>
              <a:rPr lang="fr-FR" dirty="0" err="1"/>
              <a:t>paragraphe|table|figures</a:t>
            </a:r>
            <a:r>
              <a:rPr lang="fr-FR" dirty="0"/>
              <a:t>)+, bibliographie?)&gt;</a:t>
            </a:r>
          </a:p>
          <a:p>
            <a:pPr marL="0" indent="0">
              <a:buNone/>
            </a:pPr>
            <a:r>
              <a:rPr lang="fr-FR" i="1" dirty="0"/>
              <a:t>Cette déclaration décrit le contenu d’un article comme étant composé d’un titre suivi éventuellement d’un sous-titre, puis de 0 ou plusieurs auteurs, puis d’une</a:t>
            </a:r>
          </a:p>
          <a:p>
            <a:pPr marL="0" indent="0">
              <a:buNone/>
            </a:pPr>
            <a:r>
              <a:rPr lang="fr-FR" i="1" dirty="0"/>
              <a:t>combinaison (non-vide) de paragraphes, tables et figures, puis, éventuellement,</a:t>
            </a:r>
          </a:p>
          <a:p>
            <a:pPr marL="0" indent="0">
              <a:buNone/>
            </a:pPr>
            <a:r>
              <a:rPr lang="fr-FR" i="1" dirty="0"/>
              <a:t>d’une bibliographie.</a:t>
            </a:r>
          </a:p>
          <a:p>
            <a:pPr marL="0" indent="0">
              <a:buNone/>
            </a:pPr>
            <a:endParaRPr lang="fr-FR" dirty="0"/>
          </a:p>
        </p:txBody>
      </p:sp>
    </p:spTree>
    <p:extLst>
      <p:ext uri="{BB962C8B-B14F-4D97-AF65-F5344CB8AC3E}">
        <p14:creationId xmlns:p14="http://schemas.microsoft.com/office/powerpoint/2010/main" val="1965111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noAutofit/>
          </a:bodyPr>
          <a:lstStyle/>
          <a:p>
            <a:pPr marL="0" indent="0">
              <a:buNone/>
            </a:pPr>
            <a:r>
              <a:rPr lang="fr-FR" sz="2400" dirty="0"/>
              <a:t>En résumant, il y a plusieurs raisons pour lesquelles on peut qualifier des données représentées dans un document XML comme étant semi-structurées :</a:t>
            </a:r>
          </a:p>
          <a:p>
            <a:pPr marL="0" indent="0">
              <a:buNone/>
            </a:pPr>
            <a:r>
              <a:rPr lang="fr-FR" sz="2400" dirty="0"/>
              <a:t>1. Le document n’a pas de schéma (DTD ou XML-schéma). Dans ce cas, on a juste du texte, que l’on ne sait pas comme interroger ! (Sauf par recherche de mot clé, comme pour les documents HTML)</a:t>
            </a:r>
          </a:p>
          <a:p>
            <a:pPr marL="0" indent="0">
              <a:buNone/>
            </a:pPr>
            <a:r>
              <a:rPr lang="fr-FR" sz="2400" dirty="0"/>
              <a:t>2. Le document a un schéma. Mais : </a:t>
            </a:r>
          </a:p>
          <a:p>
            <a:pPr marL="0" indent="0">
              <a:buNone/>
            </a:pPr>
            <a:r>
              <a:rPr lang="fr-FR" sz="2400" dirty="0"/>
              <a:t>(a) Une déclaration de la forme &lt;!ELEMENT balise ANY&gt; ne donne aucune information sur la structure.</a:t>
            </a:r>
          </a:p>
          <a:p>
            <a:pPr marL="0" indent="0">
              <a:buNone/>
            </a:pPr>
            <a:r>
              <a:rPr lang="fr-FR" sz="2400" dirty="0"/>
              <a:t>(b) Une déclaration comportant ? prévoit l’optionalité d’une balise B dans le motif associé à une balise A. (Mais : penser aux valeurs nulles dans les SGBD relationnels...)</a:t>
            </a:r>
          </a:p>
          <a:p>
            <a:pPr marL="0" indent="0">
              <a:buNone/>
            </a:pPr>
            <a:endParaRPr lang="fr-FR" sz="2400" dirty="0"/>
          </a:p>
        </p:txBody>
      </p:sp>
    </p:spTree>
    <p:extLst>
      <p:ext uri="{BB962C8B-B14F-4D97-AF65-F5344CB8AC3E}">
        <p14:creationId xmlns:p14="http://schemas.microsoft.com/office/powerpoint/2010/main" val="2412028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16632"/>
            <a:ext cx="8229600" cy="5616624"/>
          </a:xfrm>
        </p:spPr>
        <p:txBody>
          <a:bodyPr>
            <a:normAutofit fontScale="55000" lnSpcReduction="20000"/>
          </a:bodyPr>
          <a:lstStyle/>
          <a:p>
            <a:pPr marL="0" indent="0">
              <a:buNone/>
            </a:pPr>
            <a:r>
              <a:rPr lang="fr-FR" b="1" u="sng" dirty="0" err="1"/>
              <a:t>Example</a:t>
            </a:r>
            <a:r>
              <a:rPr lang="fr-FR" b="1" u="sng" dirty="0"/>
              <a:t> 11 Un DDT pour les données de l’exemple 7 :</a:t>
            </a:r>
          </a:p>
          <a:p>
            <a:pPr marL="0" indent="0">
              <a:buNone/>
            </a:pPr>
            <a:r>
              <a:rPr lang="fr-FR" dirty="0"/>
              <a:t>&lt;!DOCTYPE </a:t>
            </a:r>
            <a:r>
              <a:rPr lang="fr-FR" dirty="0" err="1"/>
              <a:t>geographie</a:t>
            </a:r>
            <a:r>
              <a:rPr lang="fr-FR" dirty="0"/>
              <a:t>-USA [</a:t>
            </a:r>
          </a:p>
          <a:p>
            <a:pPr marL="0" indent="0">
              <a:buNone/>
            </a:pPr>
            <a:r>
              <a:rPr lang="fr-FR" dirty="0"/>
              <a:t>&lt;!ELEMENT </a:t>
            </a:r>
            <a:r>
              <a:rPr lang="fr-FR" dirty="0" err="1"/>
              <a:t>geographie</a:t>
            </a:r>
            <a:r>
              <a:rPr lang="fr-FR" dirty="0"/>
              <a:t>-USA (</a:t>
            </a:r>
            <a:r>
              <a:rPr lang="fr-FR" dirty="0" err="1"/>
              <a:t>etats|villes</a:t>
            </a:r>
            <a:r>
              <a:rPr lang="fr-FR" dirty="0"/>
              <a:t>)*&gt;</a:t>
            </a:r>
          </a:p>
          <a:p>
            <a:pPr marL="0" indent="0">
              <a:buNone/>
            </a:pPr>
            <a:r>
              <a:rPr lang="fr-FR" dirty="0"/>
              <a:t>&lt;!ELEMENT </a:t>
            </a:r>
            <a:r>
              <a:rPr lang="fr-FR" dirty="0" err="1"/>
              <a:t>etats</a:t>
            </a:r>
            <a:r>
              <a:rPr lang="fr-FR" dirty="0"/>
              <a:t> (</a:t>
            </a:r>
            <a:r>
              <a:rPr lang="fr-FR" dirty="0" err="1"/>
              <a:t>etat</a:t>
            </a:r>
            <a:r>
              <a:rPr lang="fr-FR" dirty="0"/>
              <a:t>)*&gt;</a:t>
            </a:r>
          </a:p>
          <a:p>
            <a:pPr marL="0" indent="0">
              <a:buNone/>
            </a:pPr>
            <a:r>
              <a:rPr lang="fr-FR" dirty="0"/>
              <a:t>&lt;!ELEMENT </a:t>
            </a:r>
            <a:r>
              <a:rPr lang="fr-FR" dirty="0" err="1"/>
              <a:t>etat</a:t>
            </a:r>
            <a:r>
              <a:rPr lang="fr-FR" dirty="0"/>
              <a:t> (code-</a:t>
            </a:r>
            <a:r>
              <a:rPr lang="fr-FR" dirty="0" err="1"/>
              <a:t>etat,nom</a:t>
            </a:r>
            <a:r>
              <a:rPr lang="fr-FR" dirty="0"/>
              <a:t>-</a:t>
            </a:r>
            <a:r>
              <a:rPr lang="fr-FR" dirty="0" err="1"/>
              <a:t>etat,capitale,villes</a:t>
            </a:r>
            <a:r>
              <a:rPr lang="fr-FR" dirty="0"/>
              <a:t>-dans*)&gt;</a:t>
            </a:r>
          </a:p>
          <a:p>
            <a:pPr marL="0" indent="0">
              <a:buNone/>
            </a:pPr>
            <a:r>
              <a:rPr lang="en-US" dirty="0"/>
              <a:t>&lt;!ATTLIST </a:t>
            </a:r>
            <a:r>
              <a:rPr lang="en-US" dirty="0" err="1"/>
              <a:t>etat</a:t>
            </a:r>
            <a:r>
              <a:rPr lang="en-US" dirty="0"/>
              <a:t> </a:t>
            </a:r>
            <a:r>
              <a:rPr lang="en-US" dirty="0" err="1"/>
              <a:t>cle</a:t>
            </a:r>
            <a:r>
              <a:rPr lang="en-US" dirty="0"/>
              <a:t> ID #REQUIRED&gt;</a:t>
            </a:r>
          </a:p>
          <a:p>
            <a:pPr marL="0" indent="0">
              <a:buNone/>
            </a:pPr>
            <a:r>
              <a:rPr lang="fr-FR" dirty="0"/>
              <a:t>&lt;!ELEMENT code-</a:t>
            </a:r>
            <a:r>
              <a:rPr lang="fr-FR" dirty="0" err="1"/>
              <a:t>etat</a:t>
            </a:r>
            <a:r>
              <a:rPr lang="fr-FR" dirty="0"/>
              <a:t> (#PCDATA)&gt;</a:t>
            </a:r>
          </a:p>
          <a:p>
            <a:pPr marL="0" indent="0">
              <a:buNone/>
            </a:pPr>
            <a:r>
              <a:rPr lang="fr-FR" dirty="0"/>
              <a:t>&lt;!ELEMENT nom-</a:t>
            </a:r>
            <a:r>
              <a:rPr lang="fr-FR" dirty="0" err="1"/>
              <a:t>etat</a:t>
            </a:r>
            <a:r>
              <a:rPr lang="fr-FR" dirty="0"/>
              <a:t> (#PCDATA)&gt;</a:t>
            </a:r>
          </a:p>
          <a:p>
            <a:pPr marL="0" indent="0">
              <a:buNone/>
            </a:pPr>
            <a:r>
              <a:rPr lang="fr-FR" dirty="0"/>
              <a:t>&lt;!ELEMENT capitale EMPTY&gt;</a:t>
            </a:r>
          </a:p>
          <a:p>
            <a:pPr marL="0" indent="0">
              <a:buNone/>
            </a:pPr>
            <a:r>
              <a:rPr lang="en-US" dirty="0"/>
              <a:t>&lt;!ATTLIST </a:t>
            </a:r>
            <a:r>
              <a:rPr lang="en-US" dirty="0" err="1"/>
              <a:t>capitale</a:t>
            </a:r>
            <a:r>
              <a:rPr lang="en-US" dirty="0"/>
              <a:t> ref-cap IDREF #REQUIRED&gt;</a:t>
            </a:r>
          </a:p>
          <a:p>
            <a:pPr marL="0" indent="0">
              <a:buNone/>
            </a:pPr>
            <a:r>
              <a:rPr lang="fr-FR" dirty="0"/>
              <a:t>&lt;!ELEMENT villes-dans EMPTY&gt;</a:t>
            </a:r>
          </a:p>
          <a:p>
            <a:pPr marL="0" indent="0">
              <a:buNone/>
            </a:pPr>
            <a:r>
              <a:rPr lang="fr-FR" dirty="0"/>
              <a:t>&lt;!ATTLIST villes-dans </a:t>
            </a:r>
            <a:r>
              <a:rPr lang="fr-FR" dirty="0" err="1"/>
              <a:t>ref</a:t>
            </a:r>
            <a:r>
              <a:rPr lang="fr-FR" dirty="0"/>
              <a:t>-a-villes IDREFS #REQUIRED&gt;</a:t>
            </a:r>
          </a:p>
          <a:p>
            <a:pPr marL="0" indent="0">
              <a:buNone/>
            </a:pPr>
            <a:r>
              <a:rPr lang="fr-FR" dirty="0"/>
              <a:t>&lt;!ELEMENT villes (ville)*&gt;</a:t>
            </a:r>
          </a:p>
          <a:p>
            <a:pPr marL="0" indent="0">
              <a:buNone/>
            </a:pPr>
            <a:r>
              <a:rPr lang="fr-FR" dirty="0"/>
              <a:t>&lt;!ELEMENT ville (code-</a:t>
            </a:r>
            <a:r>
              <a:rPr lang="fr-FR" dirty="0" err="1"/>
              <a:t>ville,nom</a:t>
            </a:r>
            <a:r>
              <a:rPr lang="fr-FR" dirty="0"/>
              <a:t>-</a:t>
            </a:r>
            <a:r>
              <a:rPr lang="fr-FR" dirty="0" err="1"/>
              <a:t>ville,etat</a:t>
            </a:r>
            <a:r>
              <a:rPr lang="fr-FR" dirty="0"/>
              <a:t>-de-la-ville)&gt;</a:t>
            </a:r>
          </a:p>
          <a:p>
            <a:pPr marL="0" indent="0">
              <a:buNone/>
            </a:pPr>
            <a:r>
              <a:rPr lang="fr-FR" dirty="0"/>
              <a:t>&lt;!ATTLIST ville </a:t>
            </a:r>
            <a:r>
              <a:rPr lang="fr-FR" dirty="0" err="1"/>
              <a:t>iden</a:t>
            </a:r>
            <a:r>
              <a:rPr lang="fr-FR" dirty="0"/>
              <a:t> ID #REQUIRED&gt;</a:t>
            </a:r>
          </a:p>
          <a:p>
            <a:pPr marL="0" indent="0">
              <a:buNone/>
            </a:pPr>
            <a:r>
              <a:rPr lang="fr-FR" dirty="0"/>
              <a:t>&lt;!ELEMENT code-ville (#PCDATA)&gt;</a:t>
            </a:r>
          </a:p>
          <a:p>
            <a:pPr marL="0" indent="0">
              <a:buNone/>
            </a:pPr>
            <a:r>
              <a:rPr lang="fr-FR" dirty="0"/>
              <a:t>&lt;!ELEMENT nom-ville (#PCDATA)&gt;</a:t>
            </a:r>
          </a:p>
          <a:p>
            <a:pPr marL="0" indent="0">
              <a:buNone/>
            </a:pPr>
            <a:r>
              <a:rPr lang="fr-FR" dirty="0"/>
              <a:t>&lt;!ELEMENT </a:t>
            </a:r>
            <a:r>
              <a:rPr lang="fr-FR" dirty="0" err="1"/>
              <a:t>etat</a:t>
            </a:r>
            <a:r>
              <a:rPr lang="fr-FR" dirty="0"/>
              <a:t>-de-la-ville EMPTY&gt;</a:t>
            </a:r>
          </a:p>
          <a:p>
            <a:pPr marL="0" indent="0">
              <a:buNone/>
            </a:pPr>
            <a:r>
              <a:rPr lang="fr-FR" dirty="0"/>
              <a:t>&lt;!ATTLIST </a:t>
            </a:r>
            <a:r>
              <a:rPr lang="fr-FR" dirty="0" err="1"/>
              <a:t>etat</a:t>
            </a:r>
            <a:r>
              <a:rPr lang="fr-FR" dirty="0"/>
              <a:t>-de-la-ville </a:t>
            </a:r>
            <a:r>
              <a:rPr lang="fr-FR" dirty="0" err="1"/>
              <a:t>ref</a:t>
            </a:r>
            <a:r>
              <a:rPr lang="fr-FR" dirty="0"/>
              <a:t>-a-</a:t>
            </a:r>
            <a:r>
              <a:rPr lang="fr-FR" dirty="0" err="1"/>
              <a:t>etat</a:t>
            </a:r>
            <a:r>
              <a:rPr lang="fr-FR" dirty="0"/>
              <a:t> IDREF #REQUIRED&gt;</a:t>
            </a:r>
          </a:p>
          <a:p>
            <a:pPr marL="0" indent="0">
              <a:buNone/>
            </a:pPr>
            <a:r>
              <a:rPr lang="fr-FR" dirty="0"/>
              <a:t>]&gt;</a:t>
            </a:r>
          </a:p>
        </p:txBody>
      </p:sp>
      <p:sp>
        <p:nvSpPr>
          <p:cNvPr id="4" name="Rectangle 3"/>
          <p:cNvSpPr/>
          <p:nvPr/>
        </p:nvSpPr>
        <p:spPr>
          <a:xfrm>
            <a:off x="0" y="5661248"/>
            <a:ext cx="9144000" cy="1200329"/>
          </a:xfrm>
          <a:prstGeom prst="rect">
            <a:avLst/>
          </a:prstGeom>
        </p:spPr>
        <p:txBody>
          <a:bodyPr wrap="square">
            <a:spAutoFit/>
          </a:bodyPr>
          <a:lstStyle/>
          <a:p>
            <a:r>
              <a:rPr lang="fr-FR" dirty="0"/>
              <a:t>Un défaut des DTD : on ne peut pas déclarer que les sortes des valeurs de l’attribut </a:t>
            </a:r>
            <a:r>
              <a:rPr lang="fr-FR" dirty="0" err="1"/>
              <a:t>ref</a:t>
            </a:r>
            <a:r>
              <a:rPr lang="fr-FR" dirty="0"/>
              <a:t>-cap, par exemple, sont des villes. Les DTD n’offrent pas un typage adéquat des données semi-structurées.</a:t>
            </a:r>
          </a:p>
          <a:p>
            <a:endParaRPr lang="fr-FR" dirty="0"/>
          </a:p>
        </p:txBody>
      </p:sp>
    </p:spTree>
    <p:extLst>
      <p:ext uri="{BB962C8B-B14F-4D97-AF65-F5344CB8AC3E}">
        <p14:creationId xmlns:p14="http://schemas.microsoft.com/office/powerpoint/2010/main" val="124521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b="1" dirty="0"/>
              <a:t>XML </a:t>
            </a:r>
            <a:r>
              <a:rPr lang="fr-FR" sz="4800" b="1" dirty="0" err="1"/>
              <a:t>Schema</a:t>
            </a:r>
            <a:endParaRPr lang="fr-FR" b="1" dirty="0"/>
          </a:p>
        </p:txBody>
      </p:sp>
      <p:sp>
        <p:nvSpPr>
          <p:cNvPr id="3" name="Espace réservé du contenu 2"/>
          <p:cNvSpPr>
            <a:spLocks noGrp="1"/>
          </p:cNvSpPr>
          <p:nvPr>
            <p:ph idx="1"/>
          </p:nvPr>
        </p:nvSpPr>
        <p:spPr/>
        <p:txBody>
          <a:bodyPr>
            <a:normAutofit fontScale="77500" lnSpcReduction="20000"/>
          </a:bodyPr>
          <a:lstStyle/>
          <a:p>
            <a:pPr marL="0" indent="0">
              <a:buNone/>
            </a:pPr>
            <a:r>
              <a:rPr lang="fr-FR" b="1" u="sng" dirty="0" err="1"/>
              <a:t>Preliminaires</a:t>
            </a:r>
            <a:endParaRPr lang="fr-FR" b="1" u="sng" dirty="0"/>
          </a:p>
          <a:p>
            <a:pPr marL="0" indent="0">
              <a:buNone/>
            </a:pPr>
            <a:r>
              <a:rPr lang="fr-FR" dirty="0"/>
              <a:t>Un espace de noms XML est un standard W3C pour attribuer de façon unique des noms `a certains éléments ou attributs d’un document XML.</a:t>
            </a:r>
          </a:p>
          <a:p>
            <a:pPr marL="0" indent="0">
              <a:buNone/>
            </a:pPr>
            <a:r>
              <a:rPr lang="fr-FR" dirty="0"/>
              <a:t>Exemple d’ambigüité : un nœud client et un nœud produit ont le même fils “</a:t>
            </a:r>
            <a:r>
              <a:rPr lang="fr-FR" dirty="0" err="1"/>
              <a:t>num</a:t>
            </a:r>
            <a:r>
              <a:rPr lang="fr-FR" dirty="0"/>
              <a:t>-ID” ) problème pour les références.</a:t>
            </a:r>
          </a:p>
          <a:p>
            <a:pPr marL="0" indent="0">
              <a:buNone/>
            </a:pPr>
            <a:r>
              <a:rPr lang="fr-FR" dirty="0"/>
              <a:t>Tout type atomique </a:t>
            </a:r>
            <a:r>
              <a:rPr lang="fr-FR" dirty="0" err="1"/>
              <a:t>pre-défini</a:t>
            </a:r>
            <a:r>
              <a:rPr lang="fr-FR" dirty="0"/>
              <a:t> XML appartient à un espace de noms :</a:t>
            </a:r>
          </a:p>
          <a:p>
            <a:pPr marL="0" indent="0">
              <a:buNone/>
            </a:pPr>
            <a:r>
              <a:rPr lang="fr-FR" dirty="0"/>
              <a:t>• l’espace de noms de XML-</a:t>
            </a:r>
            <a:r>
              <a:rPr lang="fr-FR" dirty="0" err="1"/>
              <a:t>schema</a:t>
            </a:r>
            <a:r>
              <a:rPr lang="fr-FR" dirty="0"/>
              <a:t> : http//www.w3:2001/XMLSchema (le nom est préfixé par </a:t>
            </a:r>
            <a:r>
              <a:rPr lang="fr-FR" dirty="0" err="1"/>
              <a:t>xs</a:t>
            </a:r>
            <a:r>
              <a:rPr lang="fr-FR" dirty="0"/>
              <a:t>).</a:t>
            </a:r>
          </a:p>
          <a:p>
            <a:pPr marL="0" indent="0">
              <a:buNone/>
            </a:pPr>
            <a:r>
              <a:rPr lang="fr-FR" dirty="0"/>
              <a:t>• l’espace de noms de </a:t>
            </a:r>
            <a:r>
              <a:rPr lang="fr-FR" dirty="0" err="1"/>
              <a:t>XQuery</a:t>
            </a:r>
            <a:r>
              <a:rPr lang="fr-FR" dirty="0"/>
              <a:t> : http//www.w3:2003/11/xpath-datatypes (le</a:t>
            </a:r>
          </a:p>
          <a:p>
            <a:pPr marL="0" indent="0">
              <a:buNone/>
            </a:pPr>
            <a:r>
              <a:rPr lang="fr-FR" dirty="0"/>
              <a:t>nom est préfixé par </a:t>
            </a:r>
            <a:r>
              <a:rPr lang="fr-FR" dirty="0" err="1"/>
              <a:t>xdt</a:t>
            </a:r>
            <a:r>
              <a:rPr lang="fr-FR" dirty="0"/>
              <a:t>).</a:t>
            </a:r>
          </a:p>
          <a:p>
            <a:pPr marL="0" indent="0">
              <a:buNone/>
            </a:pPr>
            <a:endParaRPr lang="fr-FR" dirty="0"/>
          </a:p>
        </p:txBody>
      </p:sp>
    </p:spTree>
    <p:extLst>
      <p:ext uri="{BB962C8B-B14F-4D97-AF65-F5344CB8AC3E}">
        <p14:creationId xmlns:p14="http://schemas.microsoft.com/office/powerpoint/2010/main" val="12578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t>Construction d’un </a:t>
            </a:r>
            <a:r>
              <a:rPr lang="fr-FR" b="1" dirty="0" err="1"/>
              <a:t>schema</a:t>
            </a:r>
            <a:r>
              <a:rPr lang="fr-FR" b="1" dirty="0"/>
              <a:t> XML (1)</a:t>
            </a:r>
          </a:p>
        </p:txBody>
      </p:sp>
      <p:sp>
        <p:nvSpPr>
          <p:cNvPr id="3" name="Espace réservé du contenu 2"/>
          <p:cNvSpPr>
            <a:spLocks noGrp="1"/>
          </p:cNvSpPr>
          <p:nvPr>
            <p:ph idx="1"/>
          </p:nvPr>
        </p:nvSpPr>
        <p:spPr/>
        <p:txBody>
          <a:bodyPr>
            <a:normAutofit/>
          </a:bodyPr>
          <a:lstStyle/>
          <a:p>
            <a:pPr marL="0" indent="0">
              <a:buNone/>
            </a:pPr>
            <a:r>
              <a:rPr lang="fr-FR" dirty="0"/>
              <a:t>Le contenu de cette section est fortement inspiré par le cours de Gilles </a:t>
            </a:r>
            <a:r>
              <a:rPr lang="fr-FR" dirty="0" err="1"/>
              <a:t>Cagnon</a:t>
            </a:r>
            <a:r>
              <a:rPr lang="fr-FR" dirty="0"/>
              <a:t>, disponible sur le web :</a:t>
            </a:r>
          </a:p>
          <a:p>
            <a:pPr marL="0" indent="0">
              <a:buNone/>
            </a:pPr>
            <a:r>
              <a:rPr lang="fr-FR" dirty="0">
                <a:hlinkClick r:id="rId2"/>
              </a:rPr>
              <a:t>https://www.gchagnon.fr/cours/xml/schema.html#introschema</a:t>
            </a:r>
            <a:r>
              <a:rPr lang="fr-FR" dirty="0"/>
              <a:t> </a:t>
            </a:r>
          </a:p>
        </p:txBody>
      </p:sp>
    </p:spTree>
    <p:extLst>
      <p:ext uri="{BB962C8B-B14F-4D97-AF65-F5344CB8AC3E}">
        <p14:creationId xmlns:p14="http://schemas.microsoft.com/office/powerpoint/2010/main" val="4274788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(2)</a:t>
            </a:r>
            <a:endParaRPr lang="fr-FR" dirty="0"/>
          </a:p>
        </p:txBody>
      </p:sp>
      <p:sp>
        <p:nvSpPr>
          <p:cNvPr id="3" name="Espace réservé du contenu 2"/>
          <p:cNvSpPr>
            <a:spLocks noGrp="1"/>
          </p:cNvSpPr>
          <p:nvPr>
            <p:ph idx="1"/>
          </p:nvPr>
        </p:nvSpPr>
        <p:spPr>
          <a:xfrm>
            <a:off x="467544" y="1412776"/>
            <a:ext cx="8229600" cy="4525963"/>
          </a:xfrm>
        </p:spPr>
        <p:txBody>
          <a:bodyPr>
            <a:noAutofit/>
          </a:bodyPr>
          <a:lstStyle/>
          <a:p>
            <a:pPr marL="0" indent="0">
              <a:buNone/>
            </a:pPr>
            <a:r>
              <a:rPr lang="fr-FR" sz="2200" dirty="0"/>
              <a:t>Un fichier </a:t>
            </a:r>
            <a:r>
              <a:rPr lang="fr-FR" sz="2200" dirty="0" err="1"/>
              <a:t>Schema</a:t>
            </a:r>
            <a:r>
              <a:rPr lang="fr-FR" sz="2200" dirty="0"/>
              <a:t> XML est lui-même un document XML.</a:t>
            </a:r>
          </a:p>
          <a:p>
            <a:pPr marL="0" indent="0">
              <a:buNone/>
            </a:pPr>
            <a:r>
              <a:rPr lang="fr-FR" sz="2200" dirty="0"/>
              <a:t>Il commence par un prologue, et a un élément racine.</a:t>
            </a:r>
          </a:p>
          <a:p>
            <a:pPr marL="400050" lvl="1" indent="0">
              <a:buNone/>
            </a:pPr>
            <a:r>
              <a:rPr lang="fr-FR" sz="2200" dirty="0"/>
              <a:t>&lt;?</a:t>
            </a:r>
            <a:r>
              <a:rPr lang="fr-FR" sz="2200" dirty="0" err="1"/>
              <a:t>xml</a:t>
            </a:r>
            <a:r>
              <a:rPr lang="fr-FR" sz="2200" dirty="0"/>
              <a:t> version=’’1.0’’ </a:t>
            </a:r>
            <a:r>
              <a:rPr lang="fr-FR" sz="2200" dirty="0" err="1"/>
              <a:t>encoding</a:t>
            </a:r>
            <a:r>
              <a:rPr lang="fr-FR" sz="2200" dirty="0"/>
              <a:t>=’’ISO-8859-1’’?&gt;</a:t>
            </a:r>
          </a:p>
          <a:p>
            <a:pPr marL="400050" lvl="1" indent="0">
              <a:buNone/>
            </a:pPr>
            <a:r>
              <a:rPr lang="fr-FR" sz="2200" dirty="0"/>
              <a:t>&lt;</a:t>
            </a:r>
            <a:r>
              <a:rPr lang="fr-FR" sz="2200" dirty="0" err="1"/>
              <a:t>xsd:schema</a:t>
            </a:r>
            <a:r>
              <a:rPr lang="fr-FR" sz="2200" dirty="0"/>
              <a:t> </a:t>
            </a:r>
            <a:r>
              <a:rPr lang="fr-FR" sz="2200" dirty="0" err="1"/>
              <a:t>xmlns:xsd</a:t>
            </a:r>
            <a:r>
              <a:rPr lang="fr-FR" sz="2200" dirty="0"/>
              <a:t>=’’http://ww3.w3.org/2000:10/</a:t>
            </a:r>
            <a:r>
              <a:rPr lang="fr-FR" sz="2200" dirty="0" err="1"/>
              <a:t>XMLSchema</a:t>
            </a:r>
            <a:r>
              <a:rPr lang="fr-FR" sz="2200" dirty="0"/>
              <a:t>’’&gt;</a:t>
            </a:r>
          </a:p>
          <a:p>
            <a:pPr marL="400050" lvl="1" indent="0">
              <a:buNone/>
            </a:pPr>
            <a:r>
              <a:rPr lang="fr-FR" sz="2200" dirty="0"/>
              <a:t>&lt;!-- </a:t>
            </a:r>
            <a:r>
              <a:rPr lang="fr-FR" sz="2200" dirty="0" err="1"/>
              <a:t>declarations</a:t>
            </a:r>
            <a:r>
              <a:rPr lang="fr-FR" sz="2200" dirty="0"/>
              <a:t> d’</a:t>
            </a:r>
            <a:r>
              <a:rPr lang="fr-FR" sz="2200" dirty="0" err="1"/>
              <a:t>elements</a:t>
            </a:r>
            <a:r>
              <a:rPr lang="fr-FR" sz="2200" dirty="0"/>
              <a:t>, d’attributs et de types ici --&gt;</a:t>
            </a:r>
          </a:p>
          <a:p>
            <a:pPr marL="400050" lvl="1" indent="0">
              <a:buNone/>
            </a:pPr>
            <a:r>
              <a:rPr lang="fr-FR" sz="2200" dirty="0"/>
              <a:t>&lt;/</a:t>
            </a:r>
            <a:r>
              <a:rPr lang="fr-FR" sz="2200" dirty="0" err="1"/>
              <a:t>xsd:schema</a:t>
            </a:r>
            <a:r>
              <a:rPr lang="fr-FR" sz="2200" dirty="0"/>
              <a:t>&gt;</a:t>
            </a:r>
          </a:p>
          <a:p>
            <a:pPr marL="0" indent="0">
              <a:buNone/>
            </a:pPr>
            <a:r>
              <a:rPr lang="fr-FR" sz="2200" dirty="0"/>
              <a:t>Racine: l’élément </a:t>
            </a:r>
            <a:r>
              <a:rPr lang="fr-FR" sz="2200" dirty="0" err="1"/>
              <a:t>xsd:schema</a:t>
            </a:r>
            <a:r>
              <a:rPr lang="fr-FR" sz="2200" dirty="0"/>
              <a:t>.</a:t>
            </a:r>
          </a:p>
          <a:p>
            <a:pPr marL="0" indent="0">
              <a:buNone/>
            </a:pPr>
            <a:r>
              <a:rPr lang="fr-FR" sz="2200" dirty="0"/>
              <a:t>L’attribut </a:t>
            </a:r>
            <a:r>
              <a:rPr lang="fr-FR" sz="2200" dirty="0" err="1"/>
              <a:t>xmlns:xs</a:t>
            </a:r>
            <a:r>
              <a:rPr lang="fr-FR" sz="2200" dirty="0"/>
              <a:t> fait référence à un espace de noms. Tout les éléments commençant par </a:t>
            </a:r>
            <a:r>
              <a:rPr lang="fr-FR" sz="2200" dirty="0" err="1"/>
              <a:t>xsd</a:t>
            </a:r>
            <a:r>
              <a:rPr lang="fr-FR" sz="2200" dirty="0"/>
              <a:t> sont référencés à la URL</a:t>
            </a:r>
          </a:p>
          <a:p>
            <a:pPr marL="0" indent="0">
              <a:buNone/>
            </a:pPr>
            <a:r>
              <a:rPr lang="fr-FR" sz="2200" dirty="0"/>
              <a:t>http://ww3.w3.org/2000:10/XMLSchema</a:t>
            </a:r>
          </a:p>
          <a:p>
            <a:pPr marL="0" indent="0">
              <a:buNone/>
            </a:pPr>
            <a:r>
              <a:rPr lang="fr-FR" sz="2200" dirty="0"/>
              <a:t>qui fixe la signification de certaines expressions.</a:t>
            </a:r>
          </a:p>
          <a:p>
            <a:pPr marL="0" indent="0">
              <a:buNone/>
            </a:pPr>
            <a:endParaRPr lang="fr-FR" sz="2200" dirty="0"/>
          </a:p>
        </p:txBody>
      </p:sp>
    </p:spTree>
    <p:extLst>
      <p:ext uri="{BB962C8B-B14F-4D97-AF65-F5344CB8AC3E}">
        <p14:creationId xmlns:p14="http://schemas.microsoft.com/office/powerpoint/2010/main" val="669239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(3)</a:t>
            </a:r>
            <a:endParaRPr lang="fr-FR"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FR" b="1" u="sng" dirty="0"/>
              <a:t>Déclaration d’éléments</a:t>
            </a:r>
          </a:p>
          <a:p>
            <a:pPr marL="0" indent="0">
              <a:buNone/>
            </a:pPr>
            <a:r>
              <a:rPr lang="fr-FR" dirty="0"/>
              <a:t>Utilisation de la balise </a:t>
            </a:r>
            <a:r>
              <a:rPr lang="fr-FR" dirty="0" err="1"/>
              <a:t>xsd:element</a:t>
            </a:r>
            <a:r>
              <a:rPr lang="fr-FR" dirty="0"/>
              <a:t>. Par ex :</a:t>
            </a:r>
          </a:p>
          <a:p>
            <a:pPr marL="0" indent="0">
              <a:buNone/>
            </a:pPr>
            <a:r>
              <a:rPr lang="fr-FR" dirty="0"/>
              <a:t>&lt;?</a:t>
            </a:r>
            <a:r>
              <a:rPr lang="fr-FR" dirty="0" err="1"/>
              <a:t>xml</a:t>
            </a:r>
            <a:r>
              <a:rPr lang="fr-FR" dirty="0"/>
              <a:t> version=’’1.0’’ </a:t>
            </a:r>
            <a:r>
              <a:rPr lang="fr-FR" dirty="0" err="1"/>
              <a:t>encoding</a:t>
            </a:r>
            <a:r>
              <a:rPr lang="fr-FR" dirty="0"/>
              <a:t>=’’ISO-8859-1’’?&gt;</a:t>
            </a:r>
          </a:p>
          <a:p>
            <a:pPr marL="0" indent="0">
              <a:buNone/>
            </a:pPr>
            <a:r>
              <a:rPr lang="fr-FR" dirty="0"/>
              <a:t>&lt;</a:t>
            </a:r>
            <a:r>
              <a:rPr lang="fr-FR" dirty="0" err="1"/>
              <a:t>xsd:schema</a:t>
            </a:r>
            <a:r>
              <a:rPr lang="fr-FR" dirty="0"/>
              <a:t> </a:t>
            </a:r>
            <a:r>
              <a:rPr lang="fr-FR" dirty="0" err="1"/>
              <a:t>xmlns:xsd</a:t>
            </a:r>
            <a:r>
              <a:rPr lang="fr-FR" dirty="0"/>
              <a:t>=’’http://ww3.w3.org/2000:10/</a:t>
            </a:r>
            <a:r>
              <a:rPr lang="fr-FR" dirty="0" err="1"/>
              <a:t>XMLSchema</a:t>
            </a:r>
            <a:r>
              <a:rPr lang="fr-FR" dirty="0"/>
              <a:t>’’&gt;</a:t>
            </a:r>
          </a:p>
          <a:p>
            <a:pPr marL="0" indent="0">
              <a:buNone/>
            </a:pPr>
            <a:r>
              <a:rPr lang="fr-FR" dirty="0"/>
              <a:t>&lt;</a:t>
            </a:r>
            <a:r>
              <a:rPr lang="fr-FR" dirty="0" err="1"/>
              <a:t>xsd:element</a:t>
            </a:r>
            <a:r>
              <a:rPr lang="fr-FR" dirty="0"/>
              <a:t> </a:t>
            </a:r>
            <a:r>
              <a:rPr lang="fr-FR" dirty="0" err="1"/>
              <a:t>name</a:t>
            </a:r>
            <a:r>
              <a:rPr lang="fr-FR" dirty="0"/>
              <a:t>=’’contacts’’ type=’’</a:t>
            </a:r>
            <a:r>
              <a:rPr lang="fr-FR" dirty="0" err="1"/>
              <a:t>typeContacts</a:t>
            </a:r>
            <a:r>
              <a:rPr lang="fr-FR" dirty="0"/>
              <a:t>’’ &lt;/</a:t>
            </a:r>
            <a:r>
              <a:rPr lang="fr-FR" dirty="0" err="1"/>
              <a:t>xsd:element</a:t>
            </a:r>
            <a:r>
              <a:rPr lang="fr-FR" dirty="0"/>
              <a:t>&gt;</a:t>
            </a:r>
          </a:p>
          <a:p>
            <a:pPr marL="0" indent="0">
              <a:buNone/>
            </a:pPr>
            <a:r>
              <a:rPr lang="fr-FR" dirty="0"/>
              <a:t>&lt;</a:t>
            </a:r>
            <a:r>
              <a:rPr lang="fr-FR" dirty="0" err="1"/>
              <a:t>xsd:element</a:t>
            </a:r>
            <a:r>
              <a:rPr lang="fr-FR" dirty="0"/>
              <a:t> </a:t>
            </a:r>
            <a:r>
              <a:rPr lang="fr-FR" dirty="0" err="1"/>
              <a:t>name</a:t>
            </a:r>
            <a:r>
              <a:rPr lang="fr-FR" dirty="0"/>
              <a:t>=’’remarque’’ type=’’</a:t>
            </a:r>
            <a:r>
              <a:rPr lang="fr-FR" dirty="0" err="1"/>
              <a:t>xsd:string</a:t>
            </a:r>
            <a:r>
              <a:rPr lang="fr-FR" dirty="0"/>
              <a:t>’’ &lt;/</a:t>
            </a:r>
            <a:r>
              <a:rPr lang="fr-FR" dirty="0" err="1"/>
              <a:t>xsd:element</a:t>
            </a:r>
            <a:r>
              <a:rPr lang="fr-FR" dirty="0"/>
              <a:t>&gt;</a:t>
            </a:r>
          </a:p>
          <a:p>
            <a:pPr marL="0" indent="0">
              <a:buNone/>
            </a:pPr>
            <a:r>
              <a:rPr lang="fr-FR" dirty="0"/>
              <a:t>&lt;!-- </a:t>
            </a:r>
            <a:r>
              <a:rPr lang="fr-FR" dirty="0" err="1"/>
              <a:t>declarations</a:t>
            </a:r>
            <a:r>
              <a:rPr lang="fr-FR" dirty="0"/>
              <a:t> de types ici --&gt;</a:t>
            </a:r>
          </a:p>
          <a:p>
            <a:pPr marL="0" indent="0">
              <a:buNone/>
            </a:pPr>
            <a:r>
              <a:rPr lang="fr-FR" dirty="0"/>
              <a:t>&lt;/</a:t>
            </a:r>
            <a:r>
              <a:rPr lang="fr-FR" dirty="0" err="1"/>
              <a:t>xsd:schema</a:t>
            </a:r>
            <a:r>
              <a:rPr lang="fr-FR" dirty="0"/>
              <a:t>&gt;</a:t>
            </a:r>
          </a:p>
          <a:p>
            <a:pPr marL="0" indent="0">
              <a:buNone/>
            </a:pPr>
            <a:r>
              <a:rPr lang="fr-FR" dirty="0"/>
              <a:t>Déclaration de 2 éléments, </a:t>
            </a:r>
            <a:r>
              <a:rPr lang="fr-FR" b="1" i="1" dirty="0"/>
              <a:t>contacts</a:t>
            </a:r>
            <a:r>
              <a:rPr lang="fr-FR" dirty="0"/>
              <a:t> et </a:t>
            </a:r>
            <a:r>
              <a:rPr lang="fr-FR" b="1" i="1" dirty="0"/>
              <a:t>remarque</a:t>
            </a:r>
            <a:r>
              <a:rPr lang="fr-FR" dirty="0"/>
              <a:t>. Chaque élément est typé :</a:t>
            </a:r>
          </a:p>
          <a:p>
            <a:pPr marL="0" indent="0">
              <a:buNone/>
            </a:pPr>
            <a:r>
              <a:rPr lang="fr-FR" b="1" i="1" dirty="0"/>
              <a:t>contacts</a:t>
            </a:r>
            <a:r>
              <a:rPr lang="fr-FR" dirty="0"/>
              <a:t> a un type </a:t>
            </a:r>
            <a:r>
              <a:rPr lang="fr-FR" i="1" dirty="0"/>
              <a:t>complexe</a:t>
            </a:r>
            <a:r>
              <a:rPr lang="fr-FR" dirty="0"/>
              <a:t> (il pourra contenir des éléments enfants) tandis que </a:t>
            </a:r>
            <a:r>
              <a:rPr lang="fr-FR" b="1" i="1" dirty="0"/>
              <a:t>remarque</a:t>
            </a:r>
            <a:r>
              <a:rPr lang="fr-FR" dirty="0"/>
              <a:t> a un type simple </a:t>
            </a:r>
            <a:r>
              <a:rPr lang="fr-FR" dirty="0" err="1"/>
              <a:t>pre-défini</a:t>
            </a:r>
            <a:r>
              <a:rPr lang="fr-FR" dirty="0"/>
              <a:t> (</a:t>
            </a:r>
            <a:r>
              <a:rPr lang="fr-FR" dirty="0" err="1"/>
              <a:t>xsd:string</a:t>
            </a:r>
            <a:r>
              <a:rPr lang="fr-FR" dirty="0"/>
              <a:t>).</a:t>
            </a:r>
          </a:p>
          <a:p>
            <a:pPr marL="0" indent="0">
              <a:buNone/>
            </a:pPr>
            <a:endParaRPr lang="fr-FR" dirty="0"/>
          </a:p>
        </p:txBody>
      </p:sp>
    </p:spTree>
    <p:extLst>
      <p:ext uri="{BB962C8B-B14F-4D97-AF65-F5344CB8AC3E}">
        <p14:creationId xmlns:p14="http://schemas.microsoft.com/office/powerpoint/2010/main" val="2258621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1143000"/>
          </a:xfrm>
        </p:spPr>
        <p:txBody>
          <a:bodyPr/>
          <a:lstStyle/>
          <a:p>
            <a:r>
              <a:rPr lang="fr-FR" b="1" dirty="0"/>
              <a:t>Construction d’un </a:t>
            </a:r>
            <a:r>
              <a:rPr lang="fr-FR" b="1" dirty="0" err="1"/>
              <a:t>schema</a:t>
            </a:r>
            <a:r>
              <a:rPr lang="fr-FR" b="1" dirty="0"/>
              <a:t> XML (4)</a:t>
            </a:r>
            <a:endParaRPr lang="fr-FR" dirty="0"/>
          </a:p>
        </p:txBody>
      </p:sp>
      <p:sp>
        <p:nvSpPr>
          <p:cNvPr id="3" name="Espace réservé du contenu 2"/>
          <p:cNvSpPr>
            <a:spLocks noGrp="1"/>
          </p:cNvSpPr>
          <p:nvPr>
            <p:ph idx="1"/>
          </p:nvPr>
        </p:nvSpPr>
        <p:spPr>
          <a:xfrm>
            <a:off x="457200" y="1124744"/>
            <a:ext cx="8229600" cy="5001419"/>
          </a:xfrm>
        </p:spPr>
        <p:txBody>
          <a:bodyPr>
            <a:noAutofit/>
          </a:bodyPr>
          <a:lstStyle/>
          <a:p>
            <a:pPr marL="0" indent="0">
              <a:buNone/>
            </a:pPr>
            <a:r>
              <a:rPr lang="fr-FR" sz="2000" b="1" u="sng" dirty="0"/>
              <a:t>Déclaration d’attributs</a:t>
            </a:r>
          </a:p>
          <a:p>
            <a:pPr marL="0" indent="0">
              <a:buNone/>
            </a:pPr>
            <a:r>
              <a:rPr lang="fr-FR" sz="1800" dirty="0"/>
              <a:t>Utilisation de la balise </a:t>
            </a:r>
            <a:r>
              <a:rPr lang="fr-FR" sz="1800" dirty="0" err="1"/>
              <a:t>xsd:attribut</a:t>
            </a:r>
            <a:r>
              <a:rPr lang="fr-FR" sz="1800" dirty="0"/>
              <a:t>.</a:t>
            </a:r>
          </a:p>
          <a:p>
            <a:pPr marL="0" indent="0">
              <a:buNone/>
            </a:pPr>
            <a:r>
              <a:rPr lang="fr-FR" sz="1800" dirty="0"/>
              <a:t>Les déclarations d’attributs doivent être placées après les définitions des types</a:t>
            </a:r>
          </a:p>
          <a:p>
            <a:pPr marL="0" indent="0">
              <a:buNone/>
            </a:pPr>
            <a:r>
              <a:rPr lang="fr-FR" sz="1800" dirty="0"/>
              <a:t>complexes (par contre, dans un DTD : ordre des déclarations sans importance).</a:t>
            </a:r>
          </a:p>
          <a:p>
            <a:pPr marL="0" indent="0">
              <a:buNone/>
            </a:pPr>
            <a:r>
              <a:rPr lang="fr-FR" sz="1800" dirty="0"/>
              <a:t>&lt;?</a:t>
            </a:r>
            <a:r>
              <a:rPr lang="fr-FR" sz="1800" dirty="0" err="1"/>
              <a:t>xml</a:t>
            </a:r>
            <a:r>
              <a:rPr lang="fr-FR" sz="1800" dirty="0"/>
              <a:t> version=’’1.0’’ </a:t>
            </a:r>
            <a:r>
              <a:rPr lang="fr-FR" sz="1800" dirty="0" err="1"/>
              <a:t>encoding</a:t>
            </a:r>
            <a:r>
              <a:rPr lang="fr-FR" sz="1800" dirty="0"/>
              <a:t>=’’ISO-8859-1’’?&gt;</a:t>
            </a:r>
          </a:p>
          <a:p>
            <a:pPr marL="0" indent="0">
              <a:buNone/>
            </a:pPr>
            <a:r>
              <a:rPr lang="fr-FR" sz="1800" dirty="0"/>
              <a:t>&lt;</a:t>
            </a:r>
            <a:r>
              <a:rPr lang="fr-FR" sz="1800" dirty="0" err="1"/>
              <a:t>xsd:schema</a:t>
            </a:r>
            <a:r>
              <a:rPr lang="fr-FR" sz="1800" dirty="0"/>
              <a:t> </a:t>
            </a:r>
            <a:r>
              <a:rPr lang="fr-FR" sz="1800" dirty="0" err="1"/>
              <a:t>xmlns:xsd</a:t>
            </a:r>
            <a:r>
              <a:rPr lang="fr-FR" sz="1800" dirty="0"/>
              <a:t>=’’http://ww3.w3.org/2000:10/</a:t>
            </a:r>
            <a:r>
              <a:rPr lang="fr-FR" sz="1800" dirty="0" err="1"/>
              <a:t>XMLSchema</a:t>
            </a:r>
            <a:r>
              <a:rPr lang="fr-FR" sz="1800" dirty="0"/>
              <a:t>’’&gt;</a:t>
            </a:r>
          </a:p>
          <a:p>
            <a:pPr marL="0" indent="0">
              <a:buNone/>
            </a:pPr>
            <a:r>
              <a:rPr lang="fr-FR" sz="1800" dirty="0"/>
              <a:t>&lt;</a:t>
            </a:r>
            <a:r>
              <a:rPr lang="fr-FR" sz="1800" dirty="0" err="1"/>
              <a:t>xsd:element</a:t>
            </a:r>
            <a:r>
              <a:rPr lang="fr-FR" sz="1800" dirty="0"/>
              <a:t> </a:t>
            </a:r>
            <a:r>
              <a:rPr lang="fr-FR" sz="1800" dirty="0" err="1"/>
              <a:t>name</a:t>
            </a:r>
            <a:r>
              <a:rPr lang="fr-FR" sz="1800" dirty="0"/>
              <a:t>=’’contacts’’ type=’’</a:t>
            </a:r>
            <a:r>
              <a:rPr lang="fr-FR" sz="1800" dirty="0" err="1"/>
              <a:t>typeContacts</a:t>
            </a:r>
            <a:r>
              <a:rPr lang="fr-FR" sz="1800" dirty="0"/>
              <a:t>’’ &lt;/</a:t>
            </a:r>
            <a:r>
              <a:rPr lang="fr-FR" sz="1800" dirty="0" err="1"/>
              <a:t>xsd:element</a:t>
            </a:r>
            <a:r>
              <a:rPr lang="fr-FR" sz="1800" dirty="0"/>
              <a:t>&gt;</a:t>
            </a:r>
          </a:p>
          <a:p>
            <a:pPr marL="0" indent="0">
              <a:buNone/>
            </a:pPr>
            <a:r>
              <a:rPr lang="fr-FR" sz="1800" dirty="0"/>
              <a:t>&lt;</a:t>
            </a:r>
            <a:r>
              <a:rPr lang="fr-FR" sz="1800" dirty="0" err="1"/>
              <a:t>xsd:element</a:t>
            </a:r>
            <a:r>
              <a:rPr lang="fr-FR" sz="1800" dirty="0"/>
              <a:t> </a:t>
            </a:r>
            <a:r>
              <a:rPr lang="fr-FR" sz="1800" dirty="0" err="1"/>
              <a:t>name</a:t>
            </a:r>
            <a:r>
              <a:rPr lang="fr-FR" sz="1800" dirty="0"/>
              <a:t>=’’remarque’’ type=’’</a:t>
            </a:r>
            <a:r>
              <a:rPr lang="fr-FR" sz="1800" dirty="0" err="1"/>
              <a:t>xsd:string</a:t>
            </a:r>
            <a:r>
              <a:rPr lang="fr-FR" sz="1800" dirty="0"/>
              <a:t>’’ &lt;/</a:t>
            </a:r>
            <a:r>
              <a:rPr lang="fr-FR" sz="1800" dirty="0" err="1"/>
              <a:t>xsd:element</a:t>
            </a:r>
            <a:r>
              <a:rPr lang="fr-FR" sz="1800" dirty="0"/>
              <a:t>&gt;</a:t>
            </a:r>
          </a:p>
          <a:p>
            <a:pPr marL="0" indent="0">
              <a:buNone/>
            </a:pPr>
            <a:r>
              <a:rPr lang="fr-FR" sz="1800" dirty="0"/>
              <a:t>&lt;!-- </a:t>
            </a:r>
            <a:r>
              <a:rPr lang="fr-FR" sz="1800" dirty="0" err="1"/>
              <a:t>declarations</a:t>
            </a:r>
            <a:r>
              <a:rPr lang="fr-FR" sz="1800" dirty="0"/>
              <a:t> de types ici --&gt;</a:t>
            </a:r>
          </a:p>
          <a:p>
            <a:pPr marL="0" indent="0">
              <a:buNone/>
            </a:pPr>
            <a:r>
              <a:rPr lang="fr-FR" sz="1800" dirty="0"/>
              <a:t>&lt;</a:t>
            </a:r>
            <a:r>
              <a:rPr lang="fr-FR" sz="1800" dirty="0" err="1"/>
              <a:t>xsd:complexType</a:t>
            </a:r>
            <a:r>
              <a:rPr lang="fr-FR" sz="1800" dirty="0"/>
              <a:t> </a:t>
            </a:r>
            <a:r>
              <a:rPr lang="fr-FR" sz="1800" dirty="0" err="1"/>
              <a:t>name</a:t>
            </a:r>
            <a:r>
              <a:rPr lang="fr-FR" sz="1800" dirty="0"/>
              <a:t> = ‘‘</a:t>
            </a:r>
            <a:r>
              <a:rPr lang="fr-FR" sz="1800" dirty="0" err="1"/>
              <a:t>typeContacts</a:t>
            </a:r>
            <a:r>
              <a:rPr lang="fr-FR" sz="1800" dirty="0"/>
              <a:t>’’&gt;</a:t>
            </a:r>
          </a:p>
          <a:p>
            <a:pPr marL="0" indent="0">
              <a:buNone/>
            </a:pPr>
            <a:r>
              <a:rPr lang="fr-FR" sz="1800" dirty="0"/>
              <a:t>&lt;!-- </a:t>
            </a:r>
            <a:r>
              <a:rPr lang="fr-FR" sz="1800" dirty="0" err="1"/>
              <a:t>declarations</a:t>
            </a:r>
            <a:r>
              <a:rPr lang="fr-FR" sz="1800" dirty="0"/>
              <a:t> du </a:t>
            </a:r>
            <a:r>
              <a:rPr lang="fr-FR" sz="1800" dirty="0" err="1"/>
              <a:t>mod</a:t>
            </a:r>
            <a:r>
              <a:rPr lang="fr-FR" sz="1800" dirty="0"/>
              <a:t>\‘</a:t>
            </a:r>
            <a:r>
              <a:rPr lang="fr-FR" sz="1800" dirty="0" err="1"/>
              <a:t>ele</a:t>
            </a:r>
            <a:r>
              <a:rPr lang="fr-FR" sz="1800" dirty="0"/>
              <a:t> de contenu ici --&gt;</a:t>
            </a:r>
          </a:p>
          <a:p>
            <a:pPr marL="0" indent="0">
              <a:buNone/>
            </a:pPr>
            <a:r>
              <a:rPr lang="fr-FR" sz="1800" dirty="0"/>
              <a:t>&lt;</a:t>
            </a:r>
            <a:r>
              <a:rPr lang="fr-FR" sz="1800" dirty="0" err="1"/>
              <a:t>xsd:attribute</a:t>
            </a:r>
            <a:r>
              <a:rPr lang="fr-FR" sz="1800" dirty="0"/>
              <a:t> </a:t>
            </a:r>
            <a:r>
              <a:rPr lang="fr-FR" sz="1800" dirty="0" err="1"/>
              <a:t>name</a:t>
            </a:r>
            <a:r>
              <a:rPr lang="fr-FR" sz="1800" dirty="0"/>
              <a:t>=’’</a:t>
            </a:r>
            <a:r>
              <a:rPr lang="fr-FR" sz="1800" dirty="0" err="1"/>
              <a:t>maj</a:t>
            </a:r>
            <a:r>
              <a:rPr lang="fr-FR" sz="1800" dirty="0"/>
              <a:t>’’ type=’’</a:t>
            </a:r>
            <a:r>
              <a:rPr lang="fr-FR" sz="1800" dirty="0" err="1"/>
              <a:t>xsd:date</a:t>
            </a:r>
            <a:r>
              <a:rPr lang="fr-FR" sz="1800" dirty="0"/>
              <a:t>’’ /&gt;</a:t>
            </a:r>
          </a:p>
          <a:p>
            <a:pPr marL="0" indent="0">
              <a:buNone/>
            </a:pPr>
            <a:r>
              <a:rPr lang="fr-FR" sz="1800" dirty="0"/>
              <a:t>&lt;/</a:t>
            </a:r>
            <a:r>
              <a:rPr lang="fr-FR" sz="1800" dirty="0" err="1"/>
              <a:t>xsd:complexType</a:t>
            </a:r>
            <a:r>
              <a:rPr lang="fr-FR" sz="1800" dirty="0"/>
              <a:t>&gt;</a:t>
            </a:r>
          </a:p>
          <a:p>
            <a:pPr marL="0" indent="0">
              <a:buNone/>
            </a:pPr>
            <a:r>
              <a:rPr lang="fr-FR" sz="1800" dirty="0"/>
              <a:t>&lt;/</a:t>
            </a:r>
            <a:r>
              <a:rPr lang="fr-FR" sz="1800" dirty="0" err="1"/>
              <a:t>xsd:schema</a:t>
            </a:r>
            <a:r>
              <a:rPr lang="fr-FR" sz="1800" dirty="0"/>
              <a:t>&gt;</a:t>
            </a:r>
          </a:p>
          <a:p>
            <a:pPr marL="0" indent="0">
              <a:buNone/>
            </a:pPr>
            <a:r>
              <a:rPr lang="fr-FR" sz="1800" dirty="0"/>
              <a:t>NB : Attribut </a:t>
            </a:r>
            <a:r>
              <a:rPr lang="fr-FR" sz="1800" dirty="0" err="1"/>
              <a:t>maj</a:t>
            </a:r>
            <a:r>
              <a:rPr lang="fr-FR" sz="1800" dirty="0"/>
              <a:t> : date de la dernière mise à jour de la liste des contacts. </a:t>
            </a:r>
            <a:r>
              <a:rPr lang="fr-FR" sz="1800" dirty="0" err="1"/>
              <a:t>xsd:date</a:t>
            </a:r>
            <a:r>
              <a:rPr lang="fr-FR" sz="1800" dirty="0"/>
              <a:t> :</a:t>
            </a:r>
          </a:p>
          <a:p>
            <a:pPr marL="0" indent="0">
              <a:buNone/>
            </a:pPr>
            <a:r>
              <a:rPr lang="fr-FR" sz="1800" dirty="0"/>
              <a:t>type simple XML.</a:t>
            </a:r>
          </a:p>
          <a:p>
            <a:pPr marL="0" indent="0">
              <a:buNone/>
            </a:pPr>
            <a:endParaRPr lang="fr-FR" sz="2000" dirty="0"/>
          </a:p>
        </p:txBody>
      </p:sp>
    </p:spTree>
    <p:extLst>
      <p:ext uri="{BB962C8B-B14F-4D97-AF65-F5344CB8AC3E}">
        <p14:creationId xmlns:p14="http://schemas.microsoft.com/office/powerpoint/2010/main" val="1706061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(5)</a:t>
            </a:r>
            <a:endParaRPr lang="fr-FR" dirty="0"/>
          </a:p>
        </p:txBody>
      </p:sp>
      <p:sp>
        <p:nvSpPr>
          <p:cNvPr id="3" name="Espace réservé du contenu 2"/>
          <p:cNvSpPr>
            <a:spLocks noGrp="1"/>
          </p:cNvSpPr>
          <p:nvPr>
            <p:ph idx="1"/>
          </p:nvPr>
        </p:nvSpPr>
        <p:spPr/>
        <p:txBody>
          <a:bodyPr>
            <a:normAutofit lnSpcReduction="10000"/>
          </a:bodyPr>
          <a:lstStyle/>
          <a:p>
            <a:pPr marL="0" indent="0">
              <a:buNone/>
            </a:pPr>
            <a:r>
              <a:rPr lang="fr-FR" dirty="0"/>
              <a:t>Un attribut peut être déclaré :</a:t>
            </a:r>
          </a:p>
          <a:p>
            <a:pPr marL="0" indent="0">
              <a:buNone/>
            </a:pPr>
            <a:r>
              <a:rPr lang="fr-FR" dirty="0"/>
              <a:t>obligatoire : </a:t>
            </a:r>
            <a:r>
              <a:rPr lang="fr-FR" dirty="0" err="1"/>
              <a:t>required</a:t>
            </a:r>
            <a:r>
              <a:rPr lang="fr-FR" dirty="0"/>
              <a:t>,</a:t>
            </a:r>
          </a:p>
          <a:p>
            <a:pPr marL="0" indent="0">
              <a:buNone/>
            </a:pPr>
            <a:r>
              <a:rPr lang="fr-FR" dirty="0"/>
              <a:t>optionnel : </a:t>
            </a:r>
            <a:r>
              <a:rPr lang="fr-FR" dirty="0" err="1"/>
              <a:t>optional</a:t>
            </a:r>
            <a:r>
              <a:rPr lang="fr-FR" dirty="0"/>
              <a:t>,</a:t>
            </a:r>
          </a:p>
          <a:p>
            <a:pPr marL="0" indent="0">
              <a:buNone/>
            </a:pPr>
            <a:r>
              <a:rPr lang="fr-FR" dirty="0"/>
              <a:t>ayant une valeur par défaut.</a:t>
            </a:r>
          </a:p>
          <a:p>
            <a:pPr marL="0" indent="0">
              <a:buNone/>
            </a:pPr>
            <a:r>
              <a:rPr lang="fr-FR" dirty="0"/>
              <a:t>Par ex.</a:t>
            </a:r>
          </a:p>
          <a:p>
            <a:pPr marL="0" indent="0">
              <a:buNone/>
            </a:pPr>
            <a:r>
              <a:rPr lang="en-US" dirty="0"/>
              <a:t>&lt;</a:t>
            </a:r>
            <a:r>
              <a:rPr lang="en-US" dirty="0" err="1"/>
              <a:t>xsd:attribute</a:t>
            </a:r>
            <a:r>
              <a:rPr lang="en-US" dirty="0"/>
              <a:t> name=’’</a:t>
            </a:r>
            <a:r>
              <a:rPr lang="en-US" dirty="0" err="1"/>
              <a:t>maj</a:t>
            </a:r>
            <a:r>
              <a:rPr lang="en-US" dirty="0"/>
              <a:t>’’ type=’’</a:t>
            </a:r>
            <a:r>
              <a:rPr lang="en-US" dirty="0" err="1"/>
              <a:t>xsd:date</a:t>
            </a:r>
            <a:r>
              <a:rPr lang="en-US" dirty="0"/>
              <a:t>’’ use=’’optional’’</a:t>
            </a:r>
          </a:p>
          <a:p>
            <a:pPr marL="0" indent="0">
              <a:buNone/>
            </a:pPr>
            <a:r>
              <a:rPr lang="fr-FR" dirty="0"/>
              <a:t>default= 2006-03-11 /&gt;</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1704746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(6)</a:t>
            </a:r>
            <a:endParaRPr lang="fr-FR" dirty="0"/>
          </a:p>
        </p:txBody>
      </p:sp>
      <p:sp>
        <p:nvSpPr>
          <p:cNvPr id="3" name="Espace réservé du contenu 2"/>
          <p:cNvSpPr>
            <a:spLocks noGrp="1"/>
          </p:cNvSpPr>
          <p:nvPr>
            <p:ph idx="1"/>
          </p:nvPr>
        </p:nvSpPr>
        <p:spPr/>
        <p:txBody>
          <a:bodyPr>
            <a:normAutofit fontScale="55000" lnSpcReduction="20000"/>
          </a:bodyPr>
          <a:lstStyle/>
          <a:p>
            <a:pPr marL="0" indent="0">
              <a:buNone/>
            </a:pPr>
            <a:r>
              <a:rPr lang="fr-FR" dirty="0"/>
              <a:t>Quand on déclare un type complexe, ayant plusieurs composantes, d’un élément</a:t>
            </a:r>
          </a:p>
          <a:p>
            <a:pPr marL="0" indent="0">
              <a:buNone/>
            </a:pPr>
            <a:r>
              <a:rPr lang="fr-FR" dirty="0"/>
              <a:t>(ci-dessous : livre) il faut commencer par déclarer les éléments et les attributs</a:t>
            </a:r>
          </a:p>
          <a:p>
            <a:pPr marL="0" indent="0">
              <a:buNone/>
            </a:pPr>
            <a:r>
              <a:rPr lang="fr-FR" dirty="0"/>
              <a:t>de type simple, `a cause des possibilité des “références”.</a:t>
            </a:r>
          </a:p>
          <a:p>
            <a:pPr marL="0" indent="0">
              <a:buNone/>
            </a:pPr>
            <a:r>
              <a:rPr lang="fr-FR" dirty="0"/>
              <a:t>&lt;</a:t>
            </a:r>
            <a:r>
              <a:rPr lang="fr-FR" dirty="0" err="1"/>
              <a:t>xsd:element</a:t>
            </a:r>
            <a:r>
              <a:rPr lang="fr-FR" dirty="0"/>
              <a:t> </a:t>
            </a:r>
            <a:r>
              <a:rPr lang="fr-FR" dirty="0" err="1"/>
              <a:t>name</a:t>
            </a:r>
            <a:r>
              <a:rPr lang="fr-FR" dirty="0"/>
              <a:t>=’’pages’’ type=’’</a:t>
            </a:r>
            <a:r>
              <a:rPr lang="fr-FR" dirty="0" err="1"/>
              <a:t>xsd:positiveInteger</a:t>
            </a:r>
            <a:r>
              <a:rPr lang="fr-FR" dirty="0"/>
              <a:t>’’&lt;/</a:t>
            </a:r>
            <a:r>
              <a:rPr lang="fr-FR" dirty="0" err="1"/>
              <a:t>xsd:element</a:t>
            </a:r>
            <a:r>
              <a:rPr lang="fr-FR" dirty="0"/>
              <a:t>&gt;</a:t>
            </a:r>
          </a:p>
          <a:p>
            <a:pPr marL="0" indent="0">
              <a:buNone/>
            </a:pPr>
            <a:r>
              <a:rPr lang="fr-FR" dirty="0"/>
              <a:t>&lt;</a:t>
            </a:r>
            <a:r>
              <a:rPr lang="fr-FR" dirty="0" err="1"/>
              <a:t>xsd:element</a:t>
            </a:r>
            <a:r>
              <a:rPr lang="fr-FR" dirty="0"/>
              <a:t> </a:t>
            </a:r>
            <a:r>
              <a:rPr lang="fr-FR" dirty="0" err="1"/>
              <a:t>name</a:t>
            </a:r>
            <a:r>
              <a:rPr lang="fr-FR" dirty="0"/>
              <a:t>=‘’auteur’’ type=’’</a:t>
            </a:r>
            <a:r>
              <a:rPr lang="fr-FR" dirty="0" err="1"/>
              <a:t>xsd:string</a:t>
            </a:r>
            <a:r>
              <a:rPr lang="fr-FR" dirty="0"/>
              <a:t>’’&lt;/</a:t>
            </a:r>
            <a:r>
              <a:rPr lang="fr-FR" dirty="0" err="1"/>
              <a:t>xsd:element</a:t>
            </a:r>
            <a:r>
              <a:rPr lang="fr-FR" dirty="0"/>
              <a:t>&gt;</a:t>
            </a:r>
          </a:p>
          <a:p>
            <a:pPr marL="0" indent="0">
              <a:buNone/>
            </a:pPr>
            <a:r>
              <a:rPr lang="fr-FR" dirty="0"/>
              <a:t>&lt;</a:t>
            </a:r>
            <a:r>
              <a:rPr lang="fr-FR" dirty="0" err="1"/>
              <a:t>xsd:element</a:t>
            </a:r>
            <a:r>
              <a:rPr lang="fr-FR" dirty="0"/>
              <a:t> </a:t>
            </a:r>
            <a:r>
              <a:rPr lang="fr-FR" dirty="0" err="1"/>
              <a:t>name</a:t>
            </a:r>
            <a:r>
              <a:rPr lang="fr-FR" dirty="0"/>
              <a:t>=’’livre’’&gt;</a:t>
            </a:r>
          </a:p>
          <a:p>
            <a:pPr marL="0" indent="0">
              <a:buNone/>
            </a:pPr>
            <a:r>
              <a:rPr lang="fr-FR" dirty="0"/>
              <a:t>&lt;</a:t>
            </a:r>
            <a:r>
              <a:rPr lang="fr-FR" dirty="0" err="1"/>
              <a:t>xsd:complexType</a:t>
            </a:r>
            <a:r>
              <a:rPr lang="fr-FR" dirty="0"/>
              <a:t>&gt;</a:t>
            </a:r>
          </a:p>
          <a:p>
            <a:pPr marL="0" indent="0">
              <a:buNone/>
            </a:pPr>
            <a:r>
              <a:rPr lang="fr-FR" dirty="0"/>
              <a:t>&lt;</a:t>
            </a:r>
            <a:r>
              <a:rPr lang="fr-FR" dirty="0" err="1"/>
              <a:t>xsd:sequence</a:t>
            </a:r>
            <a:r>
              <a:rPr lang="fr-FR" dirty="0"/>
              <a:t>&gt;</a:t>
            </a:r>
          </a:p>
          <a:p>
            <a:pPr marL="0" indent="0">
              <a:buNone/>
            </a:pPr>
            <a:r>
              <a:rPr lang="fr-FR" dirty="0"/>
              <a:t>&lt;</a:t>
            </a:r>
            <a:r>
              <a:rPr lang="fr-FR" dirty="0" err="1"/>
              <a:t>element</a:t>
            </a:r>
            <a:r>
              <a:rPr lang="fr-FR" dirty="0"/>
              <a:t> </a:t>
            </a:r>
            <a:r>
              <a:rPr lang="fr-FR" dirty="0" err="1"/>
              <a:t>ref</a:t>
            </a:r>
            <a:r>
              <a:rPr lang="fr-FR" dirty="0"/>
              <a:t>=’’auteur’’/&gt;</a:t>
            </a:r>
          </a:p>
          <a:p>
            <a:pPr marL="0" indent="0">
              <a:buNone/>
            </a:pPr>
            <a:r>
              <a:rPr lang="fr-FR" dirty="0"/>
              <a:t>&lt;</a:t>
            </a:r>
            <a:r>
              <a:rPr lang="fr-FR" dirty="0" err="1"/>
              <a:t>element</a:t>
            </a:r>
            <a:r>
              <a:rPr lang="fr-FR" dirty="0"/>
              <a:t> </a:t>
            </a:r>
            <a:r>
              <a:rPr lang="fr-FR" dirty="0" err="1"/>
              <a:t>ref</a:t>
            </a:r>
            <a:r>
              <a:rPr lang="fr-FR" dirty="0"/>
              <a:t>=’’pages’’/&gt;</a:t>
            </a:r>
          </a:p>
          <a:p>
            <a:pPr marL="0" indent="0">
              <a:buNone/>
            </a:pPr>
            <a:r>
              <a:rPr lang="fr-FR" dirty="0"/>
              <a:t>&lt;/</a:t>
            </a:r>
            <a:r>
              <a:rPr lang="fr-FR" dirty="0" err="1"/>
              <a:t>xsd:sequence</a:t>
            </a:r>
            <a:r>
              <a:rPr lang="fr-FR" dirty="0"/>
              <a:t>&gt;</a:t>
            </a:r>
          </a:p>
          <a:p>
            <a:pPr marL="0" indent="0">
              <a:buNone/>
            </a:pPr>
            <a:r>
              <a:rPr lang="fr-FR" dirty="0"/>
              <a:t>&lt;</a:t>
            </a:r>
            <a:r>
              <a:rPr lang="fr-FR" dirty="0" err="1"/>
              <a:t>xsd:complexType</a:t>
            </a:r>
            <a:r>
              <a:rPr lang="fr-FR" dirty="0"/>
              <a:t>&gt;</a:t>
            </a:r>
          </a:p>
          <a:p>
            <a:pPr marL="0" indent="0">
              <a:buNone/>
            </a:pPr>
            <a:r>
              <a:rPr lang="fr-FR" dirty="0"/>
              <a:t>&lt;/</a:t>
            </a:r>
            <a:r>
              <a:rPr lang="fr-FR" dirty="0" err="1"/>
              <a:t>xsd:element</a:t>
            </a:r>
            <a:r>
              <a:rPr lang="fr-FR" dirty="0"/>
              <a:t>&gt;</a:t>
            </a:r>
          </a:p>
          <a:p>
            <a:pPr marL="0" indent="0">
              <a:buNone/>
            </a:pPr>
            <a:r>
              <a:rPr lang="fr-FR" dirty="0"/>
              <a:t>NB : “référence”, ICI : un livre est un élément de type complexe, c.à.d. une</a:t>
            </a:r>
          </a:p>
          <a:p>
            <a:pPr marL="0" indent="0">
              <a:buNone/>
            </a:pPr>
            <a:r>
              <a:rPr lang="fr-FR" dirty="0"/>
              <a:t>séquence de pages et d’un auteur.</a:t>
            </a:r>
          </a:p>
          <a:p>
            <a:pPr marL="0" indent="0">
              <a:buNone/>
            </a:pPr>
            <a:endParaRPr lang="fr-FR" dirty="0"/>
          </a:p>
        </p:txBody>
      </p:sp>
    </p:spTree>
    <p:extLst>
      <p:ext uri="{BB962C8B-B14F-4D97-AF65-F5344CB8AC3E}">
        <p14:creationId xmlns:p14="http://schemas.microsoft.com/office/powerpoint/2010/main" val="2046476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(7)</a:t>
            </a:r>
            <a:endParaRPr lang="fr-FR" dirty="0"/>
          </a:p>
        </p:txBody>
      </p:sp>
      <p:sp>
        <p:nvSpPr>
          <p:cNvPr id="3" name="Espace réservé du contenu 2"/>
          <p:cNvSpPr>
            <a:spLocks noGrp="1"/>
          </p:cNvSpPr>
          <p:nvPr>
            <p:ph idx="1"/>
          </p:nvPr>
        </p:nvSpPr>
        <p:spPr>
          <a:xfrm>
            <a:off x="467544" y="1556792"/>
            <a:ext cx="8229600" cy="4525963"/>
          </a:xfrm>
        </p:spPr>
        <p:txBody>
          <a:bodyPr>
            <a:normAutofit fontScale="85000" lnSpcReduction="20000"/>
          </a:bodyPr>
          <a:lstStyle/>
          <a:p>
            <a:pPr marL="0" indent="0">
              <a:buNone/>
            </a:pPr>
            <a:r>
              <a:rPr lang="fr-FR" sz="3300" b="1" u="sng" dirty="0"/>
              <a:t>Types Simples de XML </a:t>
            </a:r>
            <a:r>
              <a:rPr lang="fr-FR" sz="3300" b="1" u="sng" dirty="0" err="1"/>
              <a:t>Schema</a:t>
            </a:r>
            <a:endParaRPr lang="fr-FR" sz="3300" b="1" u="sng" dirty="0"/>
          </a:p>
          <a:p>
            <a:r>
              <a:rPr lang="fr-FR" dirty="0"/>
              <a:t>Il en a beaucoup. Par ex., string, </a:t>
            </a:r>
            <a:r>
              <a:rPr lang="fr-FR" dirty="0" err="1"/>
              <a:t>booleen</a:t>
            </a:r>
            <a:r>
              <a:rPr lang="fr-FR" dirty="0"/>
              <a:t>, </a:t>
            </a:r>
            <a:r>
              <a:rPr lang="fr-FR" dirty="0" err="1"/>
              <a:t>positiveinteger</a:t>
            </a:r>
            <a:r>
              <a:rPr lang="fr-FR" dirty="0"/>
              <a:t>, </a:t>
            </a:r>
            <a:r>
              <a:rPr lang="fr-FR" dirty="0" err="1"/>
              <a:t>cdata</a:t>
            </a:r>
            <a:r>
              <a:rPr lang="fr-FR" dirty="0"/>
              <a:t>, date, ID, IDREF, </a:t>
            </a:r>
            <a:r>
              <a:rPr lang="fr-FR" dirty="0" err="1"/>
              <a:t>idrefs</a:t>
            </a:r>
            <a:r>
              <a:rPr lang="fr-FR" dirty="0"/>
              <a:t>, NMTOKEN (une lettre, une chiffre, un point, un </a:t>
            </a:r>
            <a:r>
              <a:rPr lang="fr-FR" dirty="0" err="1"/>
              <a:t>tir´e</a:t>
            </a:r>
            <a:r>
              <a:rPr lang="fr-FR" dirty="0"/>
              <a:t>, une virgule..)</a:t>
            </a:r>
          </a:p>
          <a:p>
            <a:r>
              <a:rPr lang="fr-FR" dirty="0"/>
              <a:t>Les types listes sont des suites de types simples.</a:t>
            </a:r>
          </a:p>
          <a:p>
            <a:pPr marL="0" indent="0">
              <a:buNone/>
            </a:pPr>
            <a:r>
              <a:rPr lang="fr-FR" dirty="0"/>
              <a:t>XML </a:t>
            </a:r>
            <a:r>
              <a:rPr lang="fr-FR" dirty="0" err="1"/>
              <a:t>Schema</a:t>
            </a:r>
            <a:r>
              <a:rPr lang="fr-FR" dirty="0"/>
              <a:t> possède 3 types de listes </a:t>
            </a:r>
            <a:r>
              <a:rPr lang="fr-FR" dirty="0" err="1"/>
              <a:t>integrées</a:t>
            </a:r>
            <a:r>
              <a:rPr lang="fr-FR" dirty="0"/>
              <a:t> :</a:t>
            </a:r>
          </a:p>
          <a:p>
            <a:pPr marL="0" indent="0">
              <a:buNone/>
            </a:pPr>
            <a:r>
              <a:rPr lang="fr-FR" dirty="0"/>
              <a:t>1. NMTOKENS : suites finies et non-vides de NMTOKEN séparés par un espace.</a:t>
            </a:r>
          </a:p>
          <a:p>
            <a:pPr marL="0" indent="0">
              <a:buNone/>
            </a:pPr>
            <a:r>
              <a:rPr lang="fr-FR" dirty="0"/>
              <a:t>2. ENTITY : notion XML un peu plus complexe que ELEMENT. Passons.</a:t>
            </a:r>
          </a:p>
          <a:p>
            <a:pPr marL="0" indent="0">
              <a:buNone/>
            </a:pPr>
            <a:r>
              <a:rPr lang="fr-FR" dirty="0"/>
              <a:t>3. IDREFS (d´</a:t>
            </a:r>
            <a:r>
              <a:rPr lang="fr-FR" dirty="0" err="1"/>
              <a:t>ej`a</a:t>
            </a:r>
            <a:r>
              <a:rPr lang="fr-FR" dirty="0"/>
              <a:t> vu avec les DTD)</a:t>
            </a:r>
          </a:p>
          <a:p>
            <a:pPr marL="0" indent="0">
              <a:buNone/>
            </a:pPr>
            <a:endParaRPr lang="fr-FR" dirty="0"/>
          </a:p>
        </p:txBody>
      </p:sp>
    </p:spTree>
    <p:extLst>
      <p:ext uri="{BB962C8B-B14F-4D97-AF65-F5344CB8AC3E}">
        <p14:creationId xmlns:p14="http://schemas.microsoft.com/office/powerpoint/2010/main" val="4088846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Construction d’un </a:t>
            </a:r>
            <a:r>
              <a:rPr lang="fr-FR" b="1" dirty="0" err="1"/>
              <a:t>schema</a:t>
            </a:r>
            <a:r>
              <a:rPr lang="fr-FR" b="1" dirty="0"/>
              <a:t> XML (8)</a:t>
            </a:r>
            <a:endParaRPr lang="fr-FR" dirty="0"/>
          </a:p>
        </p:txBody>
      </p:sp>
      <p:sp>
        <p:nvSpPr>
          <p:cNvPr id="3" name="Espace réservé du contenu 2"/>
          <p:cNvSpPr>
            <a:spLocks noGrp="1"/>
          </p:cNvSpPr>
          <p:nvPr>
            <p:ph idx="1"/>
          </p:nvPr>
        </p:nvSpPr>
        <p:spPr/>
        <p:txBody>
          <a:bodyPr>
            <a:normAutofit fontScale="70000" lnSpcReduction="20000"/>
          </a:bodyPr>
          <a:lstStyle/>
          <a:p>
            <a:pPr marL="0" indent="0">
              <a:buNone/>
            </a:pPr>
            <a:r>
              <a:rPr lang="fr-FR" sz="3400" b="1" u="sng" dirty="0"/>
              <a:t>Types Complexes</a:t>
            </a:r>
          </a:p>
          <a:p>
            <a:pPr marL="0" indent="0">
              <a:buNone/>
            </a:pPr>
            <a:r>
              <a:rPr lang="fr-FR"/>
              <a:t>Les séquences </a:t>
            </a:r>
            <a:r>
              <a:rPr lang="fr-FR" dirty="0"/>
              <a:t>:</a:t>
            </a:r>
          </a:p>
          <a:p>
            <a:pPr marL="0" indent="0">
              <a:buNone/>
            </a:pPr>
            <a:r>
              <a:rPr lang="fr-FR" dirty="0"/>
              <a:t>&lt;</a:t>
            </a:r>
            <a:r>
              <a:rPr lang="fr-FR" dirty="0" err="1"/>
              <a:t>xsd:complexType</a:t>
            </a:r>
            <a:r>
              <a:rPr lang="fr-FR" dirty="0"/>
              <a:t>&gt;</a:t>
            </a:r>
          </a:p>
          <a:p>
            <a:pPr marL="0" indent="0">
              <a:buNone/>
            </a:pPr>
            <a:r>
              <a:rPr lang="fr-FR" dirty="0"/>
              <a:t>&lt;</a:t>
            </a:r>
            <a:r>
              <a:rPr lang="fr-FR" dirty="0" err="1"/>
              <a:t>xsd:sequence</a:t>
            </a:r>
            <a:r>
              <a:rPr lang="fr-FR" dirty="0"/>
              <a:t>&gt;</a:t>
            </a:r>
          </a:p>
          <a:p>
            <a:pPr marL="0" indent="0">
              <a:buNone/>
            </a:pPr>
            <a:r>
              <a:rPr lang="fr-FR" dirty="0"/>
              <a:t>&lt;</a:t>
            </a:r>
            <a:r>
              <a:rPr lang="fr-FR" dirty="0" err="1"/>
              <a:t>xsd:element</a:t>
            </a:r>
            <a:r>
              <a:rPr lang="fr-FR" dirty="0"/>
              <a:t> </a:t>
            </a:r>
            <a:r>
              <a:rPr lang="fr-FR" dirty="0" err="1"/>
              <a:t>name</a:t>
            </a:r>
            <a:r>
              <a:rPr lang="fr-FR" dirty="0"/>
              <a:t> =’’nom’’ type =</a:t>
            </a:r>
            <a:r>
              <a:rPr lang="fr-FR" dirty="0" err="1"/>
              <a:t>sxd:string</a:t>
            </a:r>
            <a:r>
              <a:rPr lang="fr-FR" dirty="0"/>
              <a:t>’’ /&gt;</a:t>
            </a:r>
          </a:p>
          <a:p>
            <a:pPr marL="0" indent="0">
              <a:buNone/>
            </a:pPr>
            <a:r>
              <a:rPr lang="fr-FR" dirty="0"/>
              <a:t>&lt;</a:t>
            </a:r>
            <a:r>
              <a:rPr lang="fr-FR" dirty="0" err="1"/>
              <a:t>xsd:element</a:t>
            </a:r>
            <a:r>
              <a:rPr lang="fr-FR" dirty="0"/>
              <a:t> </a:t>
            </a:r>
            <a:r>
              <a:rPr lang="fr-FR" dirty="0" err="1"/>
              <a:t>name</a:t>
            </a:r>
            <a:r>
              <a:rPr lang="fr-FR" dirty="0"/>
              <a:t> =’’</a:t>
            </a:r>
            <a:r>
              <a:rPr lang="fr-FR" dirty="0" err="1"/>
              <a:t>prenom</a:t>
            </a:r>
            <a:r>
              <a:rPr lang="fr-FR" dirty="0"/>
              <a:t>’’ type =</a:t>
            </a:r>
            <a:r>
              <a:rPr lang="fr-FR" dirty="0" err="1"/>
              <a:t>sxd:string</a:t>
            </a:r>
            <a:r>
              <a:rPr lang="fr-FR" dirty="0"/>
              <a:t>’’ /&gt;</a:t>
            </a:r>
          </a:p>
          <a:p>
            <a:pPr marL="0" indent="0">
              <a:buNone/>
            </a:pPr>
            <a:r>
              <a:rPr lang="fr-FR" dirty="0"/>
              <a:t>&lt;</a:t>
            </a:r>
            <a:r>
              <a:rPr lang="fr-FR" dirty="0" err="1"/>
              <a:t>xsd:element</a:t>
            </a:r>
            <a:r>
              <a:rPr lang="fr-FR" dirty="0"/>
              <a:t> </a:t>
            </a:r>
            <a:r>
              <a:rPr lang="fr-FR" dirty="0" err="1"/>
              <a:t>name</a:t>
            </a:r>
            <a:r>
              <a:rPr lang="fr-FR" dirty="0"/>
              <a:t> =’’</a:t>
            </a:r>
            <a:r>
              <a:rPr lang="fr-FR" dirty="0" err="1"/>
              <a:t>dateNaissance</a:t>
            </a:r>
            <a:r>
              <a:rPr lang="fr-FR" dirty="0"/>
              <a:t>’’ type =</a:t>
            </a:r>
            <a:r>
              <a:rPr lang="fr-FR" dirty="0" err="1"/>
              <a:t>sxd:date</a:t>
            </a:r>
            <a:r>
              <a:rPr lang="fr-FR" dirty="0"/>
              <a:t>’’ /&gt;</a:t>
            </a:r>
          </a:p>
          <a:p>
            <a:pPr marL="0" indent="0">
              <a:buNone/>
            </a:pPr>
            <a:r>
              <a:rPr lang="fr-FR" dirty="0"/>
              <a:t>&lt;</a:t>
            </a:r>
            <a:r>
              <a:rPr lang="fr-FR" dirty="0" err="1"/>
              <a:t>xsd:element</a:t>
            </a:r>
            <a:r>
              <a:rPr lang="fr-FR" dirty="0"/>
              <a:t> </a:t>
            </a:r>
            <a:r>
              <a:rPr lang="fr-FR" dirty="0" err="1"/>
              <a:t>name</a:t>
            </a:r>
            <a:r>
              <a:rPr lang="fr-FR" dirty="0"/>
              <a:t> =’’adresse’’ type =</a:t>
            </a:r>
            <a:r>
              <a:rPr lang="fr-FR" dirty="0" err="1"/>
              <a:t>sxd:string</a:t>
            </a:r>
            <a:r>
              <a:rPr lang="fr-FR" dirty="0"/>
              <a:t>’’ /&gt;</a:t>
            </a:r>
          </a:p>
          <a:p>
            <a:pPr marL="0" indent="0">
              <a:buNone/>
            </a:pPr>
            <a:r>
              <a:rPr lang="fr-FR" dirty="0"/>
              <a:t>&lt;</a:t>
            </a:r>
            <a:r>
              <a:rPr lang="fr-FR" dirty="0" err="1"/>
              <a:t>xsd:element</a:t>
            </a:r>
            <a:r>
              <a:rPr lang="fr-FR" dirty="0"/>
              <a:t> </a:t>
            </a:r>
            <a:r>
              <a:rPr lang="fr-FR" dirty="0" err="1"/>
              <a:t>name</a:t>
            </a:r>
            <a:r>
              <a:rPr lang="fr-FR" dirty="0"/>
              <a:t> =’’e-mail’’ type =</a:t>
            </a:r>
            <a:r>
              <a:rPr lang="fr-FR" dirty="0" err="1"/>
              <a:t>sxd:string</a:t>
            </a:r>
            <a:r>
              <a:rPr lang="fr-FR" dirty="0"/>
              <a:t>’’ /&gt;</a:t>
            </a:r>
          </a:p>
          <a:p>
            <a:pPr marL="0" indent="0">
              <a:buNone/>
            </a:pPr>
            <a:r>
              <a:rPr lang="fr-FR" dirty="0"/>
              <a:t>&lt;/</a:t>
            </a:r>
            <a:r>
              <a:rPr lang="fr-FR" dirty="0" err="1"/>
              <a:t>xsd:sequence</a:t>
            </a:r>
            <a:r>
              <a:rPr lang="fr-FR" dirty="0"/>
              <a:t>&gt;</a:t>
            </a:r>
          </a:p>
          <a:p>
            <a:pPr marL="0" indent="0">
              <a:buNone/>
            </a:pPr>
            <a:r>
              <a:rPr lang="fr-FR" dirty="0"/>
              <a:t>&lt;/</a:t>
            </a:r>
            <a:r>
              <a:rPr lang="fr-FR" dirty="0" err="1"/>
              <a:t>xsd:complexType</a:t>
            </a:r>
            <a:r>
              <a:rPr lang="fr-FR" dirty="0"/>
              <a:t>&gt;</a:t>
            </a:r>
          </a:p>
          <a:p>
            <a:pPr marL="0" indent="0">
              <a:buNone/>
            </a:pPr>
            <a:r>
              <a:rPr lang="fr-FR" dirty="0"/>
              <a:t>NB : date, string : types atomiques de XML </a:t>
            </a:r>
            <a:r>
              <a:rPr lang="fr-FR" dirty="0" err="1"/>
              <a:t>Schema</a:t>
            </a:r>
            <a:endParaRPr lang="fr-FR" dirty="0"/>
          </a:p>
          <a:p>
            <a:pPr marL="0" indent="0">
              <a:buNone/>
            </a:pPr>
            <a:endParaRPr lang="fr-FR" dirty="0"/>
          </a:p>
        </p:txBody>
      </p:sp>
    </p:spTree>
    <p:extLst>
      <p:ext uri="{BB962C8B-B14F-4D97-AF65-F5344CB8AC3E}">
        <p14:creationId xmlns:p14="http://schemas.microsoft.com/office/powerpoint/2010/main" val="323505317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3218</Words>
  <Application>Microsoft Office PowerPoint</Application>
  <PresentationFormat>Affichage à l'écran (4:3)</PresentationFormat>
  <Paragraphs>347</Paragraphs>
  <Slides>35</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35</vt:i4>
      </vt:variant>
    </vt:vector>
  </HeadingPairs>
  <TitlesOfParts>
    <vt:vector size="38" baseType="lpstr">
      <vt:lpstr>Arial</vt:lpstr>
      <vt:lpstr>Calibri</vt:lpstr>
      <vt:lpstr>Thème Office</vt:lpstr>
      <vt:lpstr>Données semi-structurées</vt:lpstr>
      <vt:lpstr>XML (1)</vt:lpstr>
      <vt:lpstr>XML (2)</vt:lpstr>
      <vt:lpstr>XML (3)</vt:lpstr>
      <vt:lpstr>XML (4)</vt:lpstr>
      <vt:lpstr>XML (5)</vt:lpstr>
      <vt:lpstr>XML (6)</vt:lpstr>
      <vt:lpstr>Syntaxe de base de XML (1)</vt:lpstr>
      <vt:lpstr>Syntaxe de base de XML (2)</vt:lpstr>
      <vt:lpstr>Syntaxe de base de XML (3)</vt:lpstr>
      <vt:lpstr>Syntaxe de base de XML (4)</vt:lpstr>
      <vt:lpstr>Syntaxe de base de XML (5)</vt:lpstr>
      <vt:lpstr>Présentation PowerPoint</vt:lpstr>
      <vt:lpstr>Présentation PowerPoint</vt:lpstr>
      <vt:lpstr>Présentation PowerPoint</vt:lpstr>
      <vt:lpstr>Présentation PowerPoint</vt:lpstr>
      <vt:lpstr>Présentation PowerPoint</vt:lpstr>
      <vt:lpstr>Syntaxe de base de XML (6)</vt:lpstr>
      <vt:lpstr>Syntaxe de base de XML (7)</vt:lpstr>
      <vt:lpstr>Présentation PowerPoint</vt:lpstr>
      <vt:lpstr>Présentation PowerPoint</vt:lpstr>
      <vt:lpstr>Schémas XML (1)</vt:lpstr>
      <vt:lpstr>Schémas XML (2)</vt:lpstr>
      <vt:lpstr>Schémas XML (3)</vt:lpstr>
      <vt:lpstr>Présentation PowerPoint</vt:lpstr>
      <vt:lpstr>Présentation PowerPoint</vt:lpstr>
      <vt:lpstr>XML Schema</vt:lpstr>
      <vt:lpstr>Construction d’un schema XML (1)</vt:lpstr>
      <vt:lpstr>Construction d’un schema XML (2)</vt:lpstr>
      <vt:lpstr>Construction d’un schema XML (3)</vt:lpstr>
      <vt:lpstr>Construction d’un schema XML (4)</vt:lpstr>
      <vt:lpstr>Construction d’un schema XML (5)</vt:lpstr>
      <vt:lpstr>Construction d’un schema XML (6)</vt:lpstr>
      <vt:lpstr>Construction d’un schema XML (7)</vt:lpstr>
      <vt:lpstr>Construction d’un schema XML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Données semi-structurées</dc:title>
  <dc:creator>user</dc:creator>
  <cp:lastModifiedBy>SELOUGHA Mohamed Achraf</cp:lastModifiedBy>
  <cp:revision>64</cp:revision>
  <dcterms:created xsi:type="dcterms:W3CDTF">2021-05-16T15:54:24Z</dcterms:created>
  <dcterms:modified xsi:type="dcterms:W3CDTF">2024-05-14T22:21:09Z</dcterms:modified>
</cp:coreProperties>
</file>