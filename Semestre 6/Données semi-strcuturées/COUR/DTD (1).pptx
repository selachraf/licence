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68" r:id="rId5"/>
    <p:sldId id="269" r:id="rId6"/>
    <p:sldId id="270" r:id="rId7"/>
    <p:sldId id="271" r:id="rId8"/>
    <p:sldId id="272" r:id="rId9"/>
    <p:sldId id="273" r:id="rId10"/>
    <p:sldId id="274" r:id="rId11"/>
    <p:sldId id="275" r:id="rId12"/>
    <p:sldId id="277" r:id="rId1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0C741837-A2E0-4054-B8CB-AD22DF1EA2FB}" type="datetimeFigureOut">
              <a:rPr lang="fr-FR" smtClean="0"/>
              <a:pPr/>
              <a:t>14/05/2024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D39E7A-8609-4948-B7B0-71DD52F77061}"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C741837-A2E0-4054-B8CB-AD22DF1EA2FB}" type="datetimeFigureOut">
              <a:rPr lang="fr-FR" smtClean="0"/>
              <a:pPr/>
              <a:t>14/05/2024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D39E7A-8609-4948-B7B0-71DD52F77061}"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0C741837-A2E0-4054-B8CB-AD22DF1EA2FB}" type="datetimeFigureOut">
              <a:rPr lang="fr-FR" smtClean="0"/>
              <a:pPr/>
              <a:t>14/05/2024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D39E7A-8609-4948-B7B0-71DD52F77061}"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0C741837-A2E0-4054-B8CB-AD22DF1EA2FB}" type="datetimeFigureOut">
              <a:rPr lang="fr-FR" smtClean="0"/>
              <a:pPr/>
              <a:t>14/05/2024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1D39E7A-8609-4948-B7B0-71DD52F77061}"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0C741837-A2E0-4054-B8CB-AD22DF1EA2FB}" type="datetimeFigureOut">
              <a:rPr lang="fr-FR" smtClean="0"/>
              <a:pPr/>
              <a:t>14/05/2024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1D39E7A-8609-4948-B7B0-71DD52F77061}"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0C741837-A2E0-4054-B8CB-AD22DF1EA2FB}" type="datetimeFigureOut">
              <a:rPr lang="fr-FR" smtClean="0"/>
              <a:pPr/>
              <a:t>14/05/2024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1D39E7A-8609-4948-B7B0-71DD52F77061}"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C741837-A2E0-4054-B8CB-AD22DF1EA2FB}" type="datetimeFigureOut">
              <a:rPr lang="fr-FR" smtClean="0"/>
              <a:pPr/>
              <a:t>14/05/2024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1D39E7A-8609-4948-B7B0-71DD52F77061}"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0C741837-A2E0-4054-B8CB-AD22DF1EA2FB}" type="datetimeFigureOut">
              <a:rPr lang="fr-FR" smtClean="0"/>
              <a:pPr/>
              <a:t>14/05/2024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1D39E7A-8609-4948-B7B0-71DD52F77061}"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0C741837-A2E0-4054-B8CB-AD22DF1EA2FB}" type="datetimeFigureOut">
              <a:rPr lang="fr-FR" smtClean="0"/>
              <a:pPr/>
              <a:t>14/05/2024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1D39E7A-8609-4948-B7B0-71DD52F77061}"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C741837-A2E0-4054-B8CB-AD22DF1EA2FB}" type="datetimeFigureOut">
              <a:rPr lang="fr-FR" smtClean="0"/>
              <a:pPr/>
              <a:t>14/05/2024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D39E7A-8609-4948-B7B0-71DD52F77061}"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C741837-A2E0-4054-B8CB-AD22DF1EA2FB}" type="datetimeFigureOut">
              <a:rPr lang="fr-FR" smtClean="0"/>
              <a:pPr/>
              <a:t>14/05/2024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1D39E7A-8609-4948-B7B0-71DD52F77061}"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741837-A2E0-4054-B8CB-AD22DF1EA2FB}" type="datetimeFigureOut">
              <a:rPr lang="fr-FR" smtClean="0"/>
              <a:pPr/>
              <a:t>14/05/2024</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D39E7A-8609-4948-B7B0-71DD52F77061}"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en-US" altLang="zh-CN"/>
              <a:t>Document </a:t>
            </a:r>
            <a:r>
              <a:rPr lang="en-US" altLang="zh-CN" dirty="0"/>
              <a:t>Type Definitions (</a:t>
            </a:r>
            <a:r>
              <a:rPr lang="fr-FR" dirty="0"/>
              <a:t>DTD)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title"/>
          </p:nvPr>
        </p:nvSpPr>
        <p:spPr>
          <a:xfrm>
            <a:off x="457200" y="274638"/>
            <a:ext cx="8229600" cy="1143000"/>
          </a:xfrm>
        </p:spPr>
        <p:txBody>
          <a:bodyPr/>
          <a:lstStyle/>
          <a:p>
            <a:r>
              <a:rPr lang="en-US" altLang="zh-CN" dirty="0"/>
              <a:t>DTD(1)</a:t>
            </a:r>
            <a:endParaRPr lang="fr-FR" dirty="0"/>
          </a:p>
        </p:txBody>
      </p:sp>
      <p:sp>
        <p:nvSpPr>
          <p:cNvPr id="5" name="Titre 1"/>
          <p:cNvSpPr>
            <a:spLocks noGrp="1"/>
          </p:cNvSpPr>
          <p:nvPr>
            <p:ph idx="1"/>
          </p:nvPr>
        </p:nvSpPr>
        <p:spPr>
          <a:xfrm>
            <a:off x="214282" y="1600200"/>
            <a:ext cx="8686800" cy="4525963"/>
          </a:xfrm>
        </p:spPr>
        <p:txBody>
          <a:bodyPr>
            <a:normAutofit lnSpcReduction="10000"/>
          </a:bodyPr>
          <a:lstStyle/>
          <a:p>
            <a:pPr algn="just">
              <a:buNone/>
            </a:pPr>
            <a:r>
              <a:rPr lang="fr-FR" dirty="0"/>
              <a:t>La </a:t>
            </a:r>
            <a:r>
              <a:rPr lang="fr-FR" b="1" i="1" dirty="0"/>
              <a:t>document type </a:t>
            </a:r>
            <a:r>
              <a:rPr lang="fr-FR" b="1" i="1" dirty="0" err="1"/>
              <a:t>definition</a:t>
            </a:r>
            <a:r>
              <a:rPr lang="fr-FR" dirty="0"/>
              <a:t> (DTD), ou </a:t>
            </a:r>
            <a:r>
              <a:rPr lang="fr-FR" b="1" dirty="0"/>
              <a:t>définition de type de document</a:t>
            </a:r>
            <a:r>
              <a:rPr lang="fr-FR" dirty="0"/>
              <a:t>, est, soit un fichier, soit une partie d'un document XML, qui décrit ce document ou une classe de documents.</a:t>
            </a:r>
          </a:p>
          <a:p>
            <a:pPr algn="just">
              <a:buNone/>
            </a:pPr>
            <a:r>
              <a:rPr lang="fr-FR" dirty="0"/>
              <a:t>Une DTD décrit la </a:t>
            </a:r>
            <a:r>
              <a:rPr lang="fr-FR" b="1" u="sng" dirty="0"/>
              <a:t>grammaire</a:t>
            </a:r>
            <a:r>
              <a:rPr lang="fr-FR" dirty="0"/>
              <a:t> du document — liste des éléments (ou </a:t>
            </a:r>
            <a:r>
              <a:rPr lang="fr-FR" b="1" u="sng" dirty="0"/>
              <a:t>balises</a:t>
            </a:r>
            <a:r>
              <a:rPr lang="fr-FR" dirty="0"/>
              <a:t>), des attributs, leur contenu et leur agencement — ainsi que le </a:t>
            </a:r>
            <a:r>
              <a:rPr lang="fr-FR" b="1" u="sng" dirty="0"/>
              <a:t>vocabulaire</a:t>
            </a:r>
            <a:r>
              <a:rPr lang="fr-FR" dirty="0"/>
              <a:t> supplémentaire sous la forme d'une liste </a:t>
            </a:r>
            <a:r>
              <a:rPr lang="fr-FR" b="1" u="sng" dirty="0"/>
              <a:t>d'Entité de caractère</a:t>
            </a:r>
            <a:r>
              <a:rPr lang="fr-FR"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ltLang="zh-CN" dirty="0"/>
              <a:t>DTD(2)</a:t>
            </a:r>
            <a:endParaRPr lang="fr-FR" dirty="0"/>
          </a:p>
        </p:txBody>
      </p:sp>
      <p:sp>
        <p:nvSpPr>
          <p:cNvPr id="3" name="Espace réservé du contenu 2"/>
          <p:cNvSpPr>
            <a:spLocks noGrp="1"/>
          </p:cNvSpPr>
          <p:nvPr>
            <p:ph idx="1"/>
          </p:nvPr>
        </p:nvSpPr>
        <p:spPr/>
        <p:txBody>
          <a:bodyPr/>
          <a:lstStyle/>
          <a:p>
            <a:pPr algn="just">
              <a:buNone/>
            </a:pPr>
            <a:r>
              <a:rPr lang="fr-FR" dirty="0"/>
              <a:t>- Un document XML peut avoir une DTD optionnelle, qui définit la grammaire du document.</a:t>
            </a:r>
          </a:p>
          <a:p>
            <a:pPr algn="just">
              <a:buNone/>
            </a:pPr>
            <a:r>
              <a:rPr lang="fr-FR" dirty="0"/>
              <a:t>- Puisque la DTD définit la grammaire du document XML, nous pouvons utiliser un analyseur XML pour vérifier que si un document XML est conforme à la grammaire définie par la DTD.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00034" y="0"/>
            <a:ext cx="8229600" cy="1143000"/>
          </a:xfrm>
        </p:spPr>
        <p:txBody>
          <a:bodyPr/>
          <a:lstStyle/>
          <a:p>
            <a:r>
              <a:rPr lang="fr-FR" dirty="0"/>
              <a:t>DTD(2)</a:t>
            </a:r>
          </a:p>
        </p:txBody>
      </p:sp>
      <p:sp>
        <p:nvSpPr>
          <p:cNvPr id="3" name="Espace réservé du contenu 2"/>
          <p:cNvSpPr>
            <a:spLocks noGrp="1"/>
          </p:cNvSpPr>
          <p:nvPr>
            <p:ph idx="1"/>
          </p:nvPr>
        </p:nvSpPr>
        <p:spPr>
          <a:xfrm>
            <a:off x="357158" y="1071546"/>
            <a:ext cx="8429684" cy="5357850"/>
          </a:xfrm>
        </p:spPr>
        <p:txBody>
          <a:bodyPr>
            <a:noAutofit/>
          </a:bodyPr>
          <a:lstStyle/>
          <a:p>
            <a:pPr>
              <a:buNone/>
            </a:pPr>
            <a:r>
              <a:rPr lang="fr-FR" sz="1800" dirty="0">
                <a:solidFill>
                  <a:schemeClr val="accent2">
                    <a:lumMod val="75000"/>
                  </a:schemeClr>
                </a:solidFill>
              </a:rPr>
              <a:t>&lt;?</a:t>
            </a:r>
            <a:r>
              <a:rPr lang="fr-FR" sz="1800" dirty="0" err="1">
                <a:solidFill>
                  <a:schemeClr val="accent2">
                    <a:lumMod val="75000"/>
                  </a:schemeClr>
                </a:solidFill>
              </a:rPr>
              <a:t>xml</a:t>
            </a:r>
            <a:r>
              <a:rPr lang="fr-FR" sz="1800" dirty="0">
                <a:solidFill>
                  <a:schemeClr val="accent2">
                    <a:lumMod val="75000"/>
                  </a:schemeClr>
                </a:solidFill>
              </a:rPr>
              <a:t> version="1.0" </a:t>
            </a:r>
            <a:r>
              <a:rPr lang="fr-FR" sz="1800" dirty="0" err="1">
                <a:solidFill>
                  <a:schemeClr val="accent2">
                    <a:lumMod val="75000"/>
                  </a:schemeClr>
                </a:solidFill>
              </a:rPr>
              <a:t>encoding</a:t>
            </a:r>
            <a:r>
              <a:rPr lang="fr-FR" sz="1800" dirty="0">
                <a:solidFill>
                  <a:schemeClr val="accent2">
                    <a:lumMod val="75000"/>
                  </a:schemeClr>
                </a:solidFill>
              </a:rPr>
              <a:t>="UTF-8" </a:t>
            </a:r>
            <a:r>
              <a:rPr lang="fr-FR" sz="1800" dirty="0" err="1">
                <a:solidFill>
                  <a:schemeClr val="accent2">
                    <a:lumMod val="75000"/>
                  </a:schemeClr>
                </a:solidFill>
              </a:rPr>
              <a:t>standalone</a:t>
            </a:r>
            <a:r>
              <a:rPr lang="fr-FR" sz="1800" dirty="0">
                <a:solidFill>
                  <a:schemeClr val="accent2">
                    <a:lumMod val="75000"/>
                  </a:schemeClr>
                </a:solidFill>
              </a:rPr>
              <a:t>="</a:t>
            </a:r>
            <a:r>
              <a:rPr lang="fr-FR" sz="1800" dirty="0" err="1">
                <a:solidFill>
                  <a:schemeClr val="accent2">
                    <a:lumMod val="75000"/>
                  </a:schemeClr>
                </a:solidFill>
              </a:rPr>
              <a:t>yes</a:t>
            </a:r>
            <a:r>
              <a:rPr lang="fr-FR" sz="1800" dirty="0">
                <a:solidFill>
                  <a:schemeClr val="accent2">
                    <a:lumMod val="75000"/>
                  </a:schemeClr>
                </a:solidFill>
              </a:rPr>
              <a:t>"?&gt; </a:t>
            </a:r>
          </a:p>
          <a:p>
            <a:pPr>
              <a:buNone/>
            </a:pPr>
            <a:r>
              <a:rPr lang="fr-FR" sz="1800" dirty="0">
                <a:solidFill>
                  <a:schemeClr val="accent2">
                    <a:lumMod val="75000"/>
                  </a:schemeClr>
                </a:solidFill>
              </a:rPr>
              <a:t>&lt;!DOCTYPE </a:t>
            </a:r>
            <a:r>
              <a:rPr lang="fr-FR" sz="1800" dirty="0" err="1">
                <a:solidFill>
                  <a:schemeClr val="accent2">
                    <a:lumMod val="75000"/>
                  </a:schemeClr>
                </a:solidFill>
              </a:rPr>
              <a:t>liste_de_gens</a:t>
            </a:r>
            <a:r>
              <a:rPr lang="fr-FR" sz="1800" dirty="0">
                <a:solidFill>
                  <a:schemeClr val="accent2">
                    <a:lumMod val="75000"/>
                  </a:schemeClr>
                </a:solidFill>
              </a:rPr>
              <a:t> [ </a:t>
            </a:r>
          </a:p>
          <a:p>
            <a:pPr>
              <a:buNone/>
            </a:pPr>
            <a:r>
              <a:rPr lang="fr-FR" sz="1800" dirty="0">
                <a:solidFill>
                  <a:schemeClr val="accent2">
                    <a:lumMod val="75000"/>
                  </a:schemeClr>
                </a:solidFill>
              </a:rPr>
              <a:t>&lt;!ELEMENT </a:t>
            </a:r>
            <a:r>
              <a:rPr lang="fr-FR" sz="1800" dirty="0" err="1">
                <a:solidFill>
                  <a:schemeClr val="accent2">
                    <a:lumMod val="75000"/>
                  </a:schemeClr>
                </a:solidFill>
              </a:rPr>
              <a:t>liste_de_gens</a:t>
            </a:r>
            <a:r>
              <a:rPr lang="fr-FR" sz="1800" dirty="0">
                <a:solidFill>
                  <a:schemeClr val="accent2">
                    <a:lumMod val="75000"/>
                  </a:schemeClr>
                </a:solidFill>
              </a:rPr>
              <a:t> (personne)*&gt; </a:t>
            </a:r>
          </a:p>
          <a:p>
            <a:pPr>
              <a:buNone/>
            </a:pPr>
            <a:r>
              <a:rPr lang="fr-FR" sz="1800" dirty="0">
                <a:solidFill>
                  <a:schemeClr val="accent2">
                    <a:lumMod val="75000"/>
                  </a:schemeClr>
                </a:solidFill>
              </a:rPr>
              <a:t>&lt;!ELEMENT personne (nom, </a:t>
            </a:r>
            <a:r>
              <a:rPr lang="fr-FR" sz="1800" dirty="0" err="1">
                <a:solidFill>
                  <a:schemeClr val="accent2">
                    <a:lumMod val="75000"/>
                  </a:schemeClr>
                </a:solidFill>
              </a:rPr>
              <a:t>date_de_naissance</a:t>
            </a:r>
            <a:r>
              <a:rPr lang="fr-FR" sz="1800" dirty="0">
                <a:solidFill>
                  <a:schemeClr val="accent2">
                    <a:lumMod val="75000"/>
                  </a:schemeClr>
                </a:solidFill>
              </a:rPr>
              <a:t>?, genre?, </a:t>
            </a:r>
            <a:r>
              <a:rPr lang="fr-FR" sz="1800" dirty="0" err="1">
                <a:solidFill>
                  <a:schemeClr val="accent2">
                    <a:lumMod val="75000"/>
                  </a:schemeClr>
                </a:solidFill>
              </a:rPr>
              <a:t>numero_de_secu</a:t>
            </a:r>
            <a:r>
              <a:rPr lang="fr-FR" sz="1800" dirty="0">
                <a:solidFill>
                  <a:schemeClr val="accent2">
                    <a:lumMod val="75000"/>
                  </a:schemeClr>
                </a:solidFill>
              </a:rPr>
              <a:t>?)&gt; </a:t>
            </a:r>
          </a:p>
          <a:p>
            <a:pPr>
              <a:buNone/>
            </a:pPr>
            <a:r>
              <a:rPr lang="fr-FR" sz="1800" dirty="0">
                <a:solidFill>
                  <a:schemeClr val="accent2">
                    <a:lumMod val="75000"/>
                  </a:schemeClr>
                </a:solidFill>
              </a:rPr>
              <a:t>&lt;!ELEMENT nom (#PCDATA)&gt; </a:t>
            </a:r>
          </a:p>
          <a:p>
            <a:pPr>
              <a:buNone/>
            </a:pPr>
            <a:r>
              <a:rPr lang="fr-FR" sz="1800" dirty="0">
                <a:solidFill>
                  <a:schemeClr val="accent2">
                    <a:lumMod val="75000"/>
                  </a:schemeClr>
                </a:solidFill>
              </a:rPr>
              <a:t>&lt;!ELEMENT </a:t>
            </a:r>
            <a:r>
              <a:rPr lang="fr-FR" sz="1800" dirty="0" err="1">
                <a:solidFill>
                  <a:schemeClr val="accent2">
                    <a:lumMod val="75000"/>
                  </a:schemeClr>
                </a:solidFill>
              </a:rPr>
              <a:t>date_de_naissance</a:t>
            </a:r>
            <a:r>
              <a:rPr lang="fr-FR" sz="1800" dirty="0">
                <a:solidFill>
                  <a:schemeClr val="accent2">
                    <a:lumMod val="75000"/>
                  </a:schemeClr>
                </a:solidFill>
              </a:rPr>
              <a:t> (#PCDATA)&gt; </a:t>
            </a:r>
          </a:p>
          <a:p>
            <a:pPr>
              <a:buNone/>
            </a:pPr>
            <a:r>
              <a:rPr lang="fr-FR" sz="1800" dirty="0">
                <a:solidFill>
                  <a:schemeClr val="accent2">
                    <a:lumMod val="75000"/>
                  </a:schemeClr>
                </a:solidFill>
              </a:rPr>
              <a:t>&lt;!ELEMENT genre (#PCDATA | masculin | féminin) "féminin"&gt; </a:t>
            </a:r>
          </a:p>
          <a:p>
            <a:pPr>
              <a:buNone/>
            </a:pPr>
            <a:r>
              <a:rPr lang="fr-FR" sz="1800" dirty="0">
                <a:solidFill>
                  <a:schemeClr val="accent2">
                    <a:lumMod val="75000"/>
                  </a:schemeClr>
                </a:solidFill>
              </a:rPr>
              <a:t>&lt;!ELEMENT </a:t>
            </a:r>
            <a:r>
              <a:rPr lang="fr-FR" sz="1800" dirty="0" err="1">
                <a:solidFill>
                  <a:schemeClr val="accent2">
                    <a:lumMod val="75000"/>
                  </a:schemeClr>
                </a:solidFill>
              </a:rPr>
              <a:t>numero_de_secu</a:t>
            </a:r>
            <a:r>
              <a:rPr lang="fr-FR" sz="1800" dirty="0">
                <a:solidFill>
                  <a:schemeClr val="accent2">
                    <a:lumMod val="75000"/>
                  </a:schemeClr>
                </a:solidFill>
              </a:rPr>
              <a:t> (#PCDATA)&gt; ]&gt; </a:t>
            </a:r>
          </a:p>
          <a:p>
            <a:pPr>
              <a:buNone/>
            </a:pPr>
            <a:endParaRPr lang="fr-FR" sz="1800" dirty="0"/>
          </a:p>
          <a:p>
            <a:pPr>
              <a:buNone/>
            </a:pPr>
            <a:r>
              <a:rPr lang="fr-FR" sz="1800" b="1" dirty="0">
                <a:solidFill>
                  <a:srgbClr val="0070C0"/>
                </a:solidFill>
              </a:rPr>
              <a:t>&lt;</a:t>
            </a:r>
            <a:r>
              <a:rPr lang="fr-FR" sz="1800" b="1" dirty="0" err="1">
                <a:solidFill>
                  <a:srgbClr val="0070C0"/>
                </a:solidFill>
              </a:rPr>
              <a:t>liste_de_gens</a:t>
            </a:r>
            <a:r>
              <a:rPr lang="fr-FR" sz="1800" b="1" dirty="0">
                <a:solidFill>
                  <a:srgbClr val="0070C0"/>
                </a:solidFill>
              </a:rPr>
              <a:t>&gt;</a:t>
            </a:r>
          </a:p>
          <a:p>
            <a:pPr>
              <a:buNone/>
            </a:pPr>
            <a:r>
              <a:rPr lang="fr-FR" sz="1800" b="1" dirty="0">
                <a:solidFill>
                  <a:srgbClr val="0070C0"/>
                </a:solidFill>
              </a:rPr>
              <a:t>    &lt;personne&gt; </a:t>
            </a:r>
          </a:p>
          <a:p>
            <a:pPr>
              <a:buNone/>
            </a:pPr>
            <a:r>
              <a:rPr lang="fr-FR" sz="1800" b="1" dirty="0"/>
              <a:t>      </a:t>
            </a:r>
            <a:r>
              <a:rPr lang="fr-FR" sz="1800" b="1" dirty="0">
                <a:solidFill>
                  <a:srgbClr val="0070C0"/>
                </a:solidFill>
              </a:rPr>
              <a:t>&lt;nom&gt;</a:t>
            </a:r>
            <a:r>
              <a:rPr lang="fr-FR" sz="1800" dirty="0"/>
              <a:t>Fred </a:t>
            </a:r>
            <a:r>
              <a:rPr lang="fr-FR" sz="1800" dirty="0" err="1"/>
              <a:t>Bloggs</a:t>
            </a:r>
            <a:r>
              <a:rPr lang="fr-FR" sz="1800" b="1" dirty="0">
                <a:solidFill>
                  <a:srgbClr val="0070C0"/>
                </a:solidFill>
              </a:rPr>
              <a:t>&lt;/nom&gt; </a:t>
            </a:r>
          </a:p>
          <a:p>
            <a:pPr>
              <a:buNone/>
            </a:pPr>
            <a:r>
              <a:rPr lang="fr-FR" sz="1800" b="1" dirty="0"/>
              <a:t>      </a:t>
            </a:r>
            <a:r>
              <a:rPr lang="fr-FR" sz="1800" b="1" dirty="0">
                <a:solidFill>
                  <a:srgbClr val="0070C0"/>
                </a:solidFill>
              </a:rPr>
              <a:t>&lt;</a:t>
            </a:r>
            <a:r>
              <a:rPr lang="fr-FR" sz="1800" b="1" dirty="0" err="1">
                <a:solidFill>
                  <a:srgbClr val="0070C0"/>
                </a:solidFill>
              </a:rPr>
              <a:t>date_de_naissance</a:t>
            </a:r>
            <a:r>
              <a:rPr lang="fr-FR" sz="1800" b="1" dirty="0">
                <a:solidFill>
                  <a:srgbClr val="0070C0"/>
                </a:solidFill>
              </a:rPr>
              <a:t>&gt;</a:t>
            </a:r>
            <a:r>
              <a:rPr lang="fr-FR" sz="1800" dirty="0"/>
              <a:t>2008-11-27</a:t>
            </a:r>
            <a:r>
              <a:rPr lang="fr-FR" sz="1800" b="1" dirty="0">
                <a:solidFill>
                  <a:srgbClr val="0070C0"/>
                </a:solidFill>
              </a:rPr>
              <a:t>&lt;/</a:t>
            </a:r>
            <a:r>
              <a:rPr lang="fr-FR" sz="1800" b="1" dirty="0" err="1">
                <a:solidFill>
                  <a:srgbClr val="0070C0"/>
                </a:solidFill>
              </a:rPr>
              <a:t>date_de_naissance</a:t>
            </a:r>
            <a:r>
              <a:rPr lang="fr-FR" sz="1800" b="1" dirty="0">
                <a:solidFill>
                  <a:srgbClr val="0070C0"/>
                </a:solidFill>
              </a:rPr>
              <a:t>&gt; </a:t>
            </a:r>
          </a:p>
          <a:p>
            <a:pPr>
              <a:buNone/>
            </a:pPr>
            <a:r>
              <a:rPr lang="fr-FR" sz="1800" b="1" dirty="0"/>
              <a:t>      </a:t>
            </a:r>
            <a:r>
              <a:rPr lang="fr-FR" sz="1800" b="1" dirty="0">
                <a:solidFill>
                  <a:srgbClr val="0070C0"/>
                </a:solidFill>
              </a:rPr>
              <a:t>&lt;genre&gt;</a:t>
            </a:r>
            <a:r>
              <a:rPr lang="fr-FR" sz="1800" dirty="0"/>
              <a:t>masculin</a:t>
            </a:r>
            <a:r>
              <a:rPr lang="fr-FR" sz="1800" b="1" dirty="0">
                <a:solidFill>
                  <a:srgbClr val="0070C0"/>
                </a:solidFill>
              </a:rPr>
              <a:t>&lt;/genre&gt; </a:t>
            </a:r>
          </a:p>
          <a:p>
            <a:pPr>
              <a:buNone/>
            </a:pPr>
            <a:r>
              <a:rPr lang="fr-FR" sz="1800" b="1" dirty="0"/>
              <a:t>   </a:t>
            </a:r>
            <a:r>
              <a:rPr lang="fr-FR" sz="1800" b="1" dirty="0">
                <a:solidFill>
                  <a:srgbClr val="0070C0"/>
                </a:solidFill>
              </a:rPr>
              <a:t>&lt;/personne&gt; </a:t>
            </a:r>
          </a:p>
          <a:p>
            <a:pPr>
              <a:buNone/>
            </a:pPr>
            <a:r>
              <a:rPr lang="fr-FR" sz="1800" b="1" dirty="0">
                <a:solidFill>
                  <a:srgbClr val="0070C0"/>
                </a:solidFill>
              </a:rPr>
              <a:t>&lt;/</a:t>
            </a:r>
            <a:r>
              <a:rPr lang="fr-FR" sz="1800" b="1" dirty="0" err="1">
                <a:solidFill>
                  <a:srgbClr val="0070C0"/>
                </a:solidFill>
              </a:rPr>
              <a:t>liste_de_gens</a:t>
            </a:r>
            <a:r>
              <a:rPr lang="fr-FR" sz="1800" b="1" dirty="0">
                <a:solidFill>
                  <a:srgbClr val="0070C0"/>
                </a:solidFill>
              </a:rPr>
              <a:t>&gt;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a:buNone/>
            </a:pPr>
            <a:r>
              <a:rPr lang="fr-FR" dirty="0"/>
              <a:t>Terminologie pour XML:</a:t>
            </a:r>
          </a:p>
          <a:p>
            <a:pPr>
              <a:buNone/>
            </a:pPr>
            <a:r>
              <a:rPr lang="fr-FR" dirty="0"/>
              <a:t>     - </a:t>
            </a:r>
            <a:r>
              <a:rPr lang="fr-FR" b="1" u="sng" dirty="0"/>
              <a:t>bien formé</a:t>
            </a:r>
            <a:r>
              <a:rPr lang="fr-FR" dirty="0"/>
              <a:t>: si les balises sont correctement fermées.</a:t>
            </a:r>
          </a:p>
          <a:p>
            <a:pPr>
              <a:buNone/>
            </a:pPr>
            <a:r>
              <a:rPr lang="fr-FR" dirty="0"/>
              <a:t>     - </a:t>
            </a:r>
            <a:r>
              <a:rPr lang="fr-FR" b="1" u="sng" dirty="0"/>
              <a:t>valide</a:t>
            </a:r>
            <a:r>
              <a:rPr lang="fr-FR" dirty="0"/>
              <a:t>: s'il a une DTD et il est conforme à sa DTD.</a:t>
            </a:r>
          </a:p>
          <a:p>
            <a:pPr>
              <a:buNone/>
            </a:pPr>
            <a:endParaRPr lang="fr-FR" dirty="0"/>
          </a:p>
          <a:p>
            <a:pPr>
              <a:buNone/>
            </a:pPr>
            <a:r>
              <a:rPr lang="fr-FR" dirty="0"/>
              <a:t>     La </a:t>
            </a:r>
            <a:r>
              <a:rPr lang="fr-FR" b="1" u="sng" dirty="0"/>
              <a:t>validation</a:t>
            </a:r>
            <a:r>
              <a:rPr lang="fr-FR" dirty="0"/>
              <a:t> est utile dans l'échange de données.</a:t>
            </a:r>
          </a:p>
        </p:txBody>
      </p:sp>
      <p:sp>
        <p:nvSpPr>
          <p:cNvPr id="4" name="Titre 1"/>
          <p:cNvSpPr>
            <a:spLocks noGrp="1"/>
          </p:cNvSpPr>
          <p:nvPr>
            <p:ph type="title"/>
          </p:nvPr>
        </p:nvSpPr>
        <p:spPr/>
        <p:txBody>
          <a:bodyPr/>
          <a:lstStyle/>
          <a:p>
            <a:r>
              <a:rPr lang="fr-FR" dirty="0"/>
              <a:t>DTD(3)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a:buNone/>
            </a:pPr>
            <a:r>
              <a:rPr lang="fr-FR" dirty="0"/>
              <a:t>Une DTD peut être déclarée à l’intérieur du  document XML ou en tant que référence externe.</a:t>
            </a:r>
          </a:p>
          <a:p>
            <a:pPr>
              <a:buNone/>
            </a:pPr>
            <a:endParaRPr lang="fr-FR" dirty="0"/>
          </a:p>
          <a:p>
            <a:pPr>
              <a:buNone/>
            </a:pPr>
            <a:r>
              <a:rPr lang="fr-FR" dirty="0"/>
              <a:t>      1) </a:t>
            </a:r>
            <a:r>
              <a:rPr lang="fr-FR" b="1" u="sng" dirty="0"/>
              <a:t>DTD interne </a:t>
            </a:r>
            <a:r>
              <a:rPr lang="fr-FR" dirty="0"/>
              <a:t>: Voici un exemple de document XML simple avec une DTD interne:</a:t>
            </a:r>
          </a:p>
        </p:txBody>
      </p:sp>
      <p:sp>
        <p:nvSpPr>
          <p:cNvPr id="4" name="Titre 1"/>
          <p:cNvSpPr>
            <a:spLocks noGrp="1"/>
          </p:cNvSpPr>
          <p:nvPr>
            <p:ph type="title"/>
          </p:nvPr>
        </p:nvSpPr>
        <p:spPr/>
        <p:txBody>
          <a:bodyPr/>
          <a:lstStyle/>
          <a:p>
            <a:r>
              <a:rPr lang="fr-FR" dirty="0"/>
              <a:t>DTD(4)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0"/>
          <p:cNvSpPr txBox="1">
            <a:spLocks noGrp="1" noChangeArrowheads="1"/>
          </p:cNvSpPr>
          <p:nvPr>
            <p:ph idx="1"/>
          </p:nvPr>
        </p:nvSpPr>
        <p:spPr bwMode="auto">
          <a:xfrm>
            <a:off x="500034" y="785794"/>
            <a:ext cx="8229600" cy="5582426"/>
          </a:xfrm>
          <a:prstGeom prst="rect">
            <a:avLst/>
          </a:prstGeom>
          <a:noFill/>
          <a:ln w="57150" cmpd="thinThick">
            <a:solidFill>
              <a:schemeClr val="tx1"/>
            </a:solidFill>
            <a:miter lim="800000"/>
            <a:headEnd/>
            <a:tailEnd/>
          </a:ln>
          <a:effectLst/>
        </p:spPr>
        <p:txBody>
          <a:bodyPr>
            <a:spAutoFit/>
          </a:bodyPr>
          <a:lstStyle/>
          <a:p>
            <a:pPr>
              <a:lnSpc>
                <a:spcPct val="80000"/>
              </a:lnSpc>
            </a:pPr>
            <a:r>
              <a:rPr lang="en-US" altLang="zh-CN" sz="1800" dirty="0"/>
              <a:t>&lt;!DOCTYPE company [</a:t>
            </a:r>
          </a:p>
          <a:p>
            <a:pPr>
              <a:lnSpc>
                <a:spcPct val="80000"/>
              </a:lnSpc>
            </a:pPr>
            <a:r>
              <a:rPr lang="en-US" altLang="zh-CN" sz="1800" dirty="0"/>
              <a:t>    &lt; ! ELEMENT company    ( (person | product)*) &gt;</a:t>
            </a:r>
          </a:p>
          <a:p>
            <a:pPr>
              <a:lnSpc>
                <a:spcPct val="80000"/>
              </a:lnSpc>
            </a:pPr>
            <a:r>
              <a:rPr lang="en-US" altLang="zh-CN" sz="1800" dirty="0"/>
              <a:t>    &lt; ! ELEMENT person        ( </a:t>
            </a:r>
            <a:r>
              <a:rPr lang="en-US" altLang="zh-CN" sz="1800" dirty="0" err="1"/>
              <a:t>ssn</a:t>
            </a:r>
            <a:r>
              <a:rPr lang="en-US" altLang="zh-CN" sz="1800" dirty="0"/>
              <a:t>, name, office, phone?) &gt;</a:t>
            </a:r>
          </a:p>
          <a:p>
            <a:pPr>
              <a:lnSpc>
                <a:spcPct val="80000"/>
              </a:lnSpc>
            </a:pPr>
            <a:r>
              <a:rPr lang="en-US" altLang="zh-CN" sz="1800" dirty="0"/>
              <a:t>    &lt; ! ELEMENT </a:t>
            </a:r>
            <a:r>
              <a:rPr lang="en-US" altLang="zh-CN" sz="1800" dirty="0" err="1"/>
              <a:t>ssn</a:t>
            </a:r>
            <a:r>
              <a:rPr lang="en-US" altLang="zh-CN" sz="1800" dirty="0"/>
              <a:t>              ( # PCDATA) &gt;</a:t>
            </a:r>
          </a:p>
          <a:p>
            <a:pPr>
              <a:lnSpc>
                <a:spcPct val="80000"/>
              </a:lnSpc>
            </a:pPr>
            <a:r>
              <a:rPr lang="en-US" altLang="zh-CN" sz="1800" dirty="0"/>
              <a:t>    &lt; ! ELEMENT name          ( # PCDATA) &gt;</a:t>
            </a:r>
          </a:p>
          <a:p>
            <a:pPr>
              <a:lnSpc>
                <a:spcPct val="80000"/>
              </a:lnSpc>
            </a:pPr>
            <a:r>
              <a:rPr lang="en-US" altLang="zh-CN" sz="1800" dirty="0"/>
              <a:t>    &lt; ! ELEMENT office          ( # PCDATA) &gt;</a:t>
            </a:r>
          </a:p>
          <a:p>
            <a:pPr>
              <a:lnSpc>
                <a:spcPct val="80000"/>
              </a:lnSpc>
            </a:pPr>
            <a:r>
              <a:rPr lang="en-US" altLang="zh-CN" sz="1800" dirty="0"/>
              <a:t>    &lt; ! ELEMENT phone          ( # PCDATA) &gt;</a:t>
            </a:r>
          </a:p>
          <a:p>
            <a:pPr>
              <a:lnSpc>
                <a:spcPct val="80000"/>
              </a:lnSpc>
            </a:pPr>
            <a:r>
              <a:rPr lang="en-US" altLang="zh-CN" sz="1800" dirty="0"/>
              <a:t>    &lt; ! ELEMENT product       ( </a:t>
            </a:r>
            <a:r>
              <a:rPr lang="en-US" altLang="zh-CN" sz="1800" dirty="0" err="1"/>
              <a:t>pid</a:t>
            </a:r>
            <a:r>
              <a:rPr lang="en-US" altLang="zh-CN" sz="1800" dirty="0"/>
              <a:t>, name, description? ) &gt;</a:t>
            </a:r>
          </a:p>
          <a:p>
            <a:pPr>
              <a:lnSpc>
                <a:spcPct val="80000"/>
              </a:lnSpc>
            </a:pPr>
            <a:r>
              <a:rPr lang="en-US" altLang="zh-CN" sz="1800" dirty="0"/>
              <a:t>    &lt; ! ELEMENT </a:t>
            </a:r>
            <a:r>
              <a:rPr lang="en-US" altLang="zh-CN" sz="1800" dirty="0" err="1"/>
              <a:t>pid</a:t>
            </a:r>
            <a:r>
              <a:rPr lang="en-US" altLang="zh-CN" sz="1800" dirty="0"/>
              <a:t>              ( # PCDATA) &gt;</a:t>
            </a:r>
          </a:p>
          <a:p>
            <a:pPr>
              <a:lnSpc>
                <a:spcPct val="80000"/>
              </a:lnSpc>
            </a:pPr>
            <a:r>
              <a:rPr lang="en-US" altLang="zh-CN" sz="1800" dirty="0"/>
              <a:t>    &lt; ! ELEMENT description  ( # PCDATA) &gt;</a:t>
            </a:r>
          </a:p>
          <a:p>
            <a:pPr>
              <a:lnSpc>
                <a:spcPct val="80000"/>
              </a:lnSpc>
            </a:pPr>
            <a:r>
              <a:rPr lang="en-US" altLang="zh-CN" sz="1800" dirty="0"/>
              <a:t>]&gt;</a:t>
            </a:r>
          </a:p>
          <a:p>
            <a:pPr>
              <a:lnSpc>
                <a:spcPct val="80000"/>
              </a:lnSpc>
            </a:pPr>
            <a:r>
              <a:rPr lang="en-US" altLang="zh-CN" sz="1800" dirty="0"/>
              <a:t>&lt;company&gt;</a:t>
            </a:r>
          </a:p>
          <a:p>
            <a:pPr>
              <a:lnSpc>
                <a:spcPct val="80000"/>
              </a:lnSpc>
            </a:pPr>
            <a:r>
              <a:rPr lang="en-US" altLang="zh-CN" sz="1800" dirty="0"/>
              <a:t>&lt;person&gt; &lt;</a:t>
            </a:r>
            <a:r>
              <a:rPr lang="en-US" altLang="zh-CN" sz="1800" dirty="0" err="1"/>
              <a:t>ssn</a:t>
            </a:r>
            <a:r>
              <a:rPr lang="en-US" altLang="zh-CN" sz="1800" dirty="0"/>
              <a:t>&gt; 12345678 &lt; /</a:t>
            </a:r>
            <a:r>
              <a:rPr lang="en-US" altLang="zh-CN" sz="1800" dirty="0" err="1"/>
              <a:t>ssn</a:t>
            </a:r>
            <a:r>
              <a:rPr lang="en-US" altLang="zh-CN" sz="1800" dirty="0"/>
              <a:t>&gt;</a:t>
            </a:r>
          </a:p>
          <a:p>
            <a:pPr>
              <a:lnSpc>
                <a:spcPct val="80000"/>
              </a:lnSpc>
            </a:pPr>
            <a:r>
              <a:rPr lang="en-US" altLang="zh-CN" sz="1800" dirty="0"/>
              <a:t>                &lt;name&gt; John &lt;/name&gt;</a:t>
            </a:r>
          </a:p>
          <a:p>
            <a:pPr>
              <a:lnSpc>
                <a:spcPct val="80000"/>
              </a:lnSpc>
            </a:pPr>
            <a:r>
              <a:rPr lang="en-US" altLang="zh-CN" sz="1800" dirty="0"/>
              <a:t>                &lt;office&gt; B432 &lt;/office&gt;</a:t>
            </a:r>
          </a:p>
          <a:p>
            <a:pPr>
              <a:lnSpc>
                <a:spcPct val="80000"/>
              </a:lnSpc>
            </a:pPr>
            <a:r>
              <a:rPr lang="en-US" altLang="zh-CN" sz="1800" dirty="0"/>
              <a:t>                &lt;phone&gt; 1234 &lt;/phone&gt;</a:t>
            </a:r>
          </a:p>
          <a:p>
            <a:pPr>
              <a:lnSpc>
                <a:spcPct val="80000"/>
              </a:lnSpc>
            </a:pPr>
            <a:r>
              <a:rPr lang="en-US" altLang="zh-CN" sz="1800" dirty="0"/>
              <a:t>&lt;/person&gt;</a:t>
            </a:r>
          </a:p>
          <a:p>
            <a:pPr>
              <a:lnSpc>
                <a:spcPct val="80000"/>
              </a:lnSpc>
            </a:pPr>
            <a:r>
              <a:rPr lang="en-US" altLang="zh-CN" sz="1800" dirty="0"/>
              <a:t>&lt;product&gt; … &lt;/product&gt;</a:t>
            </a:r>
          </a:p>
          <a:p>
            <a:pPr>
              <a:lnSpc>
                <a:spcPct val="80000"/>
              </a:lnSpc>
            </a:pPr>
            <a:r>
              <a:rPr lang="en-US" altLang="zh-CN" sz="1800" dirty="0"/>
              <a:t>…</a:t>
            </a:r>
          </a:p>
          <a:p>
            <a:pPr>
              <a:lnSpc>
                <a:spcPct val="80000"/>
              </a:lnSpc>
            </a:pPr>
            <a:r>
              <a:rPr lang="en-US" altLang="zh-CN" sz="1800" dirty="0"/>
              <a:t>&lt;/company&gt;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428736"/>
            <a:ext cx="8229600" cy="4929222"/>
          </a:xfrm>
        </p:spPr>
        <p:txBody>
          <a:bodyPr>
            <a:normAutofit fontScale="92500" lnSpcReduction="10000"/>
          </a:bodyPr>
          <a:lstStyle/>
          <a:p>
            <a:pPr>
              <a:buNone/>
            </a:pPr>
            <a:r>
              <a:rPr lang="fr-FR" b="1" u="sng" dirty="0"/>
              <a:t>2) DTD externe</a:t>
            </a:r>
          </a:p>
          <a:p>
            <a:pPr>
              <a:buNone/>
            </a:pPr>
            <a:endParaRPr lang="fr-FR" b="1" u="sng" dirty="0"/>
          </a:p>
          <a:p>
            <a:pPr>
              <a:buNone/>
            </a:pPr>
            <a:endParaRPr lang="fr-FR" b="1" u="sng" dirty="0"/>
          </a:p>
          <a:p>
            <a:pPr>
              <a:buNone/>
            </a:pPr>
            <a:endParaRPr lang="fr-FR" b="1" u="sng" dirty="0"/>
          </a:p>
          <a:p>
            <a:pPr>
              <a:buNone/>
            </a:pPr>
            <a:endParaRPr lang="fr-FR" b="1" u="sng" dirty="0"/>
          </a:p>
          <a:p>
            <a:pPr>
              <a:buNone/>
            </a:pPr>
            <a:endParaRPr lang="fr-FR" b="1" u="sng" dirty="0"/>
          </a:p>
          <a:p>
            <a:pPr>
              <a:buNone/>
            </a:pPr>
            <a:endParaRPr lang="en-US" altLang="zh-CN" sz="2000" dirty="0"/>
          </a:p>
          <a:p>
            <a:pPr>
              <a:buNone/>
            </a:pPr>
            <a:endParaRPr lang="en-US" altLang="zh-CN" sz="2000" dirty="0"/>
          </a:p>
          <a:p>
            <a:pPr>
              <a:buNone/>
            </a:pPr>
            <a:endParaRPr lang="en-US" altLang="zh-CN" sz="2000" dirty="0"/>
          </a:p>
          <a:p>
            <a:pPr>
              <a:buNone/>
            </a:pPr>
            <a:r>
              <a:rPr lang="en-US" altLang="zh-CN" sz="2000" b="1" dirty="0">
                <a:solidFill>
                  <a:schemeClr val="accent1">
                    <a:lumMod val="75000"/>
                  </a:schemeClr>
                </a:solidFill>
              </a:rPr>
              <a:t>Elle </a:t>
            </a:r>
            <a:r>
              <a:rPr lang="en-US" altLang="zh-CN" sz="2000" b="1" dirty="0" err="1">
                <a:solidFill>
                  <a:schemeClr val="accent1">
                    <a:lumMod val="75000"/>
                  </a:schemeClr>
                </a:solidFill>
              </a:rPr>
              <a:t>peut</a:t>
            </a:r>
            <a:r>
              <a:rPr lang="en-US" altLang="zh-CN" sz="2000" b="1" dirty="0">
                <a:solidFill>
                  <a:schemeClr val="accent1">
                    <a:lumMod val="75000"/>
                  </a:schemeClr>
                </a:solidFill>
              </a:rPr>
              <a:t> </a:t>
            </a:r>
            <a:r>
              <a:rPr lang="en-US" altLang="zh-CN" sz="2000" b="1" dirty="0" err="1">
                <a:solidFill>
                  <a:schemeClr val="accent1">
                    <a:lumMod val="75000"/>
                  </a:schemeClr>
                </a:solidFill>
              </a:rPr>
              <a:t>même</a:t>
            </a:r>
            <a:r>
              <a:rPr lang="en-US" altLang="zh-CN" sz="2000" b="1" dirty="0">
                <a:solidFill>
                  <a:schemeClr val="accent1">
                    <a:lumMod val="75000"/>
                  </a:schemeClr>
                </a:solidFill>
              </a:rPr>
              <a:t> </a:t>
            </a:r>
            <a:r>
              <a:rPr lang="en-US" altLang="zh-CN" sz="2000" b="1" dirty="0" err="1">
                <a:solidFill>
                  <a:schemeClr val="accent1">
                    <a:lumMod val="75000"/>
                  </a:schemeClr>
                </a:solidFill>
              </a:rPr>
              <a:t>être</a:t>
            </a:r>
            <a:r>
              <a:rPr lang="en-US" altLang="zh-CN" sz="2000" b="1" dirty="0">
                <a:solidFill>
                  <a:schemeClr val="accent1">
                    <a:lumMod val="75000"/>
                  </a:schemeClr>
                </a:solidFill>
              </a:rPr>
              <a:t> </a:t>
            </a:r>
            <a:r>
              <a:rPr lang="en-US" altLang="zh-CN" sz="2000" b="1" dirty="0" err="1">
                <a:solidFill>
                  <a:schemeClr val="accent1">
                    <a:lumMod val="75000"/>
                  </a:schemeClr>
                </a:solidFill>
              </a:rPr>
              <a:t>sur</a:t>
            </a:r>
            <a:r>
              <a:rPr lang="en-US" altLang="zh-CN" sz="2000" b="1" dirty="0">
                <a:solidFill>
                  <a:schemeClr val="accent1">
                    <a:lumMod val="75000"/>
                  </a:schemeClr>
                </a:solidFill>
              </a:rPr>
              <a:t> un </a:t>
            </a:r>
            <a:r>
              <a:rPr lang="en-US" altLang="zh-CN" sz="2000" b="1" dirty="0" err="1">
                <a:solidFill>
                  <a:schemeClr val="accent1">
                    <a:lumMod val="75000"/>
                  </a:schemeClr>
                </a:solidFill>
              </a:rPr>
              <a:t>autre</a:t>
            </a:r>
            <a:r>
              <a:rPr lang="en-US" altLang="zh-CN" sz="2000" b="1" dirty="0">
                <a:solidFill>
                  <a:schemeClr val="accent1">
                    <a:lumMod val="75000"/>
                  </a:schemeClr>
                </a:solidFill>
              </a:rPr>
              <a:t> </a:t>
            </a:r>
            <a:r>
              <a:rPr lang="en-US" altLang="zh-CN" sz="2000" b="1" dirty="0" err="1">
                <a:solidFill>
                  <a:schemeClr val="accent1">
                    <a:lumMod val="75000"/>
                  </a:schemeClr>
                </a:solidFill>
              </a:rPr>
              <a:t>serveur</a:t>
            </a:r>
            <a:endParaRPr lang="fr-FR" altLang="zh-CN" sz="2000" b="1" dirty="0">
              <a:solidFill>
                <a:schemeClr val="accent1">
                  <a:lumMod val="75000"/>
                </a:schemeClr>
              </a:solidFill>
            </a:endParaRPr>
          </a:p>
          <a:p>
            <a:pPr>
              <a:buNone/>
            </a:pPr>
            <a:r>
              <a:rPr lang="en-US" altLang="zh-CN" sz="2000" b="1" dirty="0">
                <a:solidFill>
                  <a:schemeClr val="accent1">
                    <a:lumMod val="75000"/>
                  </a:schemeClr>
                </a:solidFill>
              </a:rPr>
              <a:t>&lt;!DOCTYPE company SYSTEM “http://www.mydtd.com/company.dtd”&gt;</a:t>
            </a:r>
          </a:p>
          <a:p>
            <a:pPr>
              <a:buNone/>
            </a:pPr>
            <a:endParaRPr lang="fr-FR" b="1" u="sng" dirty="0"/>
          </a:p>
        </p:txBody>
      </p:sp>
      <p:sp>
        <p:nvSpPr>
          <p:cNvPr id="4" name="Text Box 4"/>
          <p:cNvSpPr txBox="1">
            <a:spLocks noChangeArrowheads="1"/>
          </p:cNvSpPr>
          <p:nvPr/>
        </p:nvSpPr>
        <p:spPr bwMode="auto">
          <a:xfrm>
            <a:off x="642910" y="2071678"/>
            <a:ext cx="7924800" cy="3079750"/>
          </a:xfrm>
          <a:prstGeom prst="rect">
            <a:avLst/>
          </a:prstGeom>
          <a:noFill/>
          <a:ln w="57150" cmpd="thickThin">
            <a:solidFill>
              <a:schemeClr val="tx1"/>
            </a:solidFill>
            <a:miter lim="800000"/>
            <a:headEnd/>
            <a:tailEnd/>
          </a:ln>
          <a:effectLst/>
        </p:spPr>
        <p:txBody>
          <a:bodyPr>
            <a:spAutoFit/>
          </a:bodyPr>
          <a:lstStyle/>
          <a:p>
            <a:pPr>
              <a:lnSpc>
                <a:spcPct val="90000"/>
              </a:lnSpc>
            </a:pPr>
            <a:r>
              <a:rPr lang="en-US" altLang="zh-CN" sz="2200" dirty="0"/>
              <a:t>&lt;!DOCTYPE company SYSTEM “company.dtd”&gt;</a:t>
            </a:r>
          </a:p>
          <a:p>
            <a:pPr>
              <a:lnSpc>
                <a:spcPct val="80000"/>
              </a:lnSpc>
            </a:pPr>
            <a:r>
              <a:rPr lang="en-US" altLang="zh-CN" dirty="0"/>
              <a:t>&lt;company&gt;</a:t>
            </a:r>
          </a:p>
          <a:p>
            <a:pPr>
              <a:lnSpc>
                <a:spcPct val="80000"/>
              </a:lnSpc>
            </a:pPr>
            <a:r>
              <a:rPr lang="en-US" altLang="zh-CN" dirty="0"/>
              <a:t>&lt;person&gt; &lt;</a:t>
            </a:r>
            <a:r>
              <a:rPr lang="en-US" altLang="zh-CN" dirty="0" err="1"/>
              <a:t>ssn</a:t>
            </a:r>
            <a:r>
              <a:rPr lang="en-US" altLang="zh-CN" dirty="0"/>
              <a:t>&gt; 12345678 &lt; /</a:t>
            </a:r>
            <a:r>
              <a:rPr lang="en-US" altLang="zh-CN" dirty="0" err="1"/>
              <a:t>ssn</a:t>
            </a:r>
            <a:r>
              <a:rPr lang="en-US" altLang="zh-CN" dirty="0"/>
              <a:t>&gt;</a:t>
            </a:r>
          </a:p>
          <a:p>
            <a:pPr>
              <a:lnSpc>
                <a:spcPct val="80000"/>
              </a:lnSpc>
            </a:pPr>
            <a:r>
              <a:rPr lang="en-US" altLang="zh-CN" dirty="0"/>
              <a:t>                &lt;name&gt; John &lt;/name&gt;</a:t>
            </a:r>
          </a:p>
          <a:p>
            <a:pPr>
              <a:lnSpc>
                <a:spcPct val="80000"/>
              </a:lnSpc>
            </a:pPr>
            <a:r>
              <a:rPr lang="en-US" altLang="zh-CN" dirty="0"/>
              <a:t>                &lt;office&gt; B432 &lt;/office&gt;</a:t>
            </a:r>
          </a:p>
          <a:p>
            <a:pPr>
              <a:lnSpc>
                <a:spcPct val="80000"/>
              </a:lnSpc>
            </a:pPr>
            <a:r>
              <a:rPr lang="en-US" altLang="zh-CN" dirty="0"/>
              <a:t>                &lt;phone&gt; 1234 &lt;/phone&gt;</a:t>
            </a:r>
          </a:p>
          <a:p>
            <a:pPr>
              <a:lnSpc>
                <a:spcPct val="80000"/>
              </a:lnSpc>
            </a:pPr>
            <a:r>
              <a:rPr lang="en-US" altLang="zh-CN" dirty="0"/>
              <a:t>&lt;/person&gt;</a:t>
            </a:r>
          </a:p>
          <a:p>
            <a:pPr>
              <a:lnSpc>
                <a:spcPct val="80000"/>
              </a:lnSpc>
            </a:pPr>
            <a:r>
              <a:rPr lang="en-US" altLang="zh-CN" dirty="0"/>
              <a:t>&lt;product&gt; … &lt;/product&gt;</a:t>
            </a:r>
          </a:p>
          <a:p>
            <a:pPr>
              <a:lnSpc>
                <a:spcPct val="80000"/>
              </a:lnSpc>
            </a:pPr>
            <a:r>
              <a:rPr lang="en-US" altLang="zh-CN" dirty="0"/>
              <a:t>…</a:t>
            </a:r>
          </a:p>
          <a:p>
            <a:pPr>
              <a:lnSpc>
                <a:spcPct val="80000"/>
              </a:lnSpc>
            </a:pPr>
            <a:r>
              <a:rPr lang="en-US" altLang="zh-CN" dirty="0"/>
              <a:t>&lt;/company&gt;</a:t>
            </a:r>
          </a:p>
        </p:txBody>
      </p:sp>
      <p:sp>
        <p:nvSpPr>
          <p:cNvPr id="5" name="Titre 1"/>
          <p:cNvSpPr>
            <a:spLocks noGrp="1"/>
          </p:cNvSpPr>
          <p:nvPr>
            <p:ph type="title"/>
          </p:nvPr>
        </p:nvSpPr>
        <p:spPr>
          <a:xfrm>
            <a:off x="457200" y="274638"/>
            <a:ext cx="8229600" cy="1143000"/>
          </a:xfrm>
        </p:spPr>
        <p:txBody>
          <a:bodyPr/>
          <a:lstStyle/>
          <a:p>
            <a:r>
              <a:rPr lang="fr-FR" dirty="0"/>
              <a:t>DTD(5)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85000" lnSpcReduction="10000"/>
          </a:bodyPr>
          <a:lstStyle/>
          <a:p>
            <a:pPr>
              <a:buNone/>
            </a:pPr>
            <a:r>
              <a:rPr lang="fr-FR" dirty="0"/>
              <a:t>XML fournit une manière indépendante de partage de données. Avec une DTD, des groupes indépendants de personnes peuvent accepter d'utiliser une DTD commune pour l'échange de données. Votre application peut utiliser une DTD standard pour vérifier que les données que vous recevez du monde extérieur sont valides. Vous pouvez également utiliser une DTD pour vérifier vos propres données.</a:t>
            </a:r>
          </a:p>
          <a:p>
            <a:pPr>
              <a:buNone/>
            </a:pPr>
            <a:r>
              <a:rPr lang="fr-FR" dirty="0"/>
              <a:t>De nombreux forums émergent pour définir des DTD standard pour presque tout dans les domaines de l'échange de données.</a:t>
            </a:r>
          </a:p>
        </p:txBody>
      </p:sp>
      <p:sp>
        <p:nvSpPr>
          <p:cNvPr id="4" name="Titre 1"/>
          <p:cNvSpPr>
            <a:spLocks noGrp="1"/>
          </p:cNvSpPr>
          <p:nvPr>
            <p:ph type="title"/>
          </p:nvPr>
        </p:nvSpPr>
        <p:spPr/>
        <p:txBody>
          <a:bodyPr/>
          <a:lstStyle/>
          <a:p>
            <a:r>
              <a:rPr lang="fr-FR" dirty="0"/>
              <a:t>DTD(6)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85000" lnSpcReduction="10000"/>
          </a:bodyPr>
          <a:lstStyle/>
          <a:p>
            <a:pPr>
              <a:buNone/>
            </a:pPr>
            <a:r>
              <a:rPr lang="fr-FR" b="1" u="sng" dirty="0"/>
              <a:t>XML-DTD : blocs de construction</a:t>
            </a:r>
          </a:p>
          <a:p>
            <a:pPr>
              <a:buNone/>
            </a:pPr>
            <a:r>
              <a:rPr lang="fr-FR" dirty="0"/>
              <a:t>Les blocs de construction des documents XML:</a:t>
            </a:r>
          </a:p>
          <a:p>
            <a:pPr>
              <a:buNone/>
            </a:pPr>
            <a:r>
              <a:rPr lang="fr-FR" dirty="0"/>
              <a:t>     1) </a:t>
            </a:r>
            <a:r>
              <a:rPr lang="fr-FR" b="1" u="sng" dirty="0"/>
              <a:t>Éléments</a:t>
            </a:r>
            <a:r>
              <a:rPr lang="fr-FR" dirty="0"/>
              <a:t>: blocs de construction principaux.</a:t>
            </a:r>
          </a:p>
          <a:p>
            <a:pPr>
              <a:buNone/>
            </a:pPr>
            <a:r>
              <a:rPr lang="fr-FR" dirty="0"/>
              <a:t>     Exemple: "société", "personne" ...</a:t>
            </a:r>
          </a:p>
          <a:p>
            <a:pPr>
              <a:buNone/>
            </a:pPr>
            <a:r>
              <a:rPr lang="fr-FR" dirty="0"/>
              <a:t>     2) </a:t>
            </a:r>
            <a:r>
              <a:rPr lang="fr-FR" b="1" u="sng" dirty="0"/>
              <a:t>balises</a:t>
            </a:r>
            <a:r>
              <a:rPr lang="fr-FR" dirty="0"/>
              <a:t>: sont utilisées pour les éléments de balisage.</a:t>
            </a:r>
          </a:p>
          <a:p>
            <a:pPr>
              <a:buNone/>
            </a:pPr>
            <a:r>
              <a:rPr lang="fr-FR" dirty="0"/>
              <a:t>     3) </a:t>
            </a:r>
            <a:r>
              <a:rPr lang="fr-FR" b="1" u="sng" dirty="0"/>
              <a:t>Attributs</a:t>
            </a:r>
            <a:r>
              <a:rPr lang="fr-FR" dirty="0"/>
              <a:t>: les attributs fournissent des informations supplémentaires sur les éléments. Les attributs sont placés à l'intérieur de la balise de début d'un élément.</a:t>
            </a:r>
          </a:p>
          <a:p>
            <a:pPr>
              <a:buNone/>
            </a:pPr>
            <a:r>
              <a:rPr lang="fr-FR" dirty="0"/>
              <a:t>     Exemple: &lt;</a:t>
            </a:r>
            <a:r>
              <a:rPr lang="fr-FR" dirty="0" err="1"/>
              <a:t>img</a:t>
            </a:r>
            <a:r>
              <a:rPr lang="fr-FR" dirty="0"/>
              <a:t> </a:t>
            </a:r>
            <a:r>
              <a:rPr lang="fr-FR" dirty="0" err="1"/>
              <a:t>src</a:t>
            </a:r>
            <a:r>
              <a:rPr lang="fr-FR" dirty="0"/>
              <a:t> = "computer.gif" /&gt;</a:t>
            </a:r>
          </a:p>
        </p:txBody>
      </p:sp>
      <p:sp>
        <p:nvSpPr>
          <p:cNvPr id="4" name="Titre 1"/>
          <p:cNvSpPr>
            <a:spLocks noGrp="1"/>
          </p:cNvSpPr>
          <p:nvPr>
            <p:ph type="title"/>
          </p:nvPr>
        </p:nvSpPr>
        <p:spPr/>
        <p:txBody>
          <a:bodyPr/>
          <a:lstStyle/>
          <a:p>
            <a:r>
              <a:rPr lang="fr-FR" dirty="0"/>
              <a:t>DTD(7)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92500" lnSpcReduction="20000"/>
          </a:bodyPr>
          <a:lstStyle/>
          <a:p>
            <a:pPr>
              <a:buNone/>
            </a:pPr>
            <a:r>
              <a:rPr lang="fr-FR" dirty="0"/>
              <a:t>4) PCDATA: </a:t>
            </a:r>
            <a:r>
              <a:rPr lang="en-US" altLang="zh-CN" dirty="0"/>
              <a:t>parsed character data</a:t>
            </a:r>
            <a:r>
              <a:rPr lang="fr-FR" dirty="0"/>
              <a:t>.</a:t>
            </a:r>
          </a:p>
          <a:p>
            <a:pPr>
              <a:buNone/>
            </a:pPr>
            <a:r>
              <a:rPr lang="fr-FR" dirty="0"/>
              <a:t>    Considère les données de caractères comme le texte trouvé entre la balise de début et la balise de fin d'un élément XML. &lt;nom&gt; John &lt;/ nom&gt;</a:t>
            </a:r>
          </a:p>
          <a:p>
            <a:pPr>
              <a:buNone/>
            </a:pPr>
            <a:r>
              <a:rPr lang="fr-FR" dirty="0"/>
              <a:t>     PCDATA est un texte qui sera analysé par un analyseur.</a:t>
            </a:r>
          </a:p>
          <a:p>
            <a:pPr>
              <a:buNone/>
            </a:pPr>
            <a:endParaRPr lang="fr-FR" dirty="0"/>
          </a:p>
          <a:p>
            <a:pPr>
              <a:buNone/>
            </a:pPr>
            <a:r>
              <a:rPr lang="fr-FR" dirty="0"/>
              <a:t>   5) CDATA: </a:t>
            </a:r>
            <a:r>
              <a:rPr lang="en-US" altLang="zh-CN" dirty="0"/>
              <a:t>character data</a:t>
            </a:r>
            <a:r>
              <a:rPr lang="fr-FR" dirty="0"/>
              <a:t>.</a:t>
            </a:r>
          </a:p>
          <a:p>
            <a:pPr>
              <a:buNone/>
            </a:pPr>
            <a:r>
              <a:rPr lang="fr-FR" dirty="0"/>
              <a:t>    CDATA est un texte qui ne sera pas analysé par un analyseur.</a:t>
            </a:r>
          </a:p>
          <a:p>
            <a:pPr>
              <a:buNone/>
            </a:pPr>
            <a:endParaRPr lang="fr-FR" dirty="0"/>
          </a:p>
        </p:txBody>
      </p:sp>
      <p:sp>
        <p:nvSpPr>
          <p:cNvPr id="4" name="Titre 1"/>
          <p:cNvSpPr>
            <a:spLocks noGrp="1"/>
          </p:cNvSpPr>
          <p:nvPr>
            <p:ph type="title"/>
          </p:nvPr>
        </p:nvSpPr>
        <p:spPr/>
        <p:txBody>
          <a:bodyPr/>
          <a:lstStyle/>
          <a:p>
            <a:r>
              <a:rPr lang="fr-FR" dirty="0"/>
              <a:t>DTD(8)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600200"/>
            <a:ext cx="8472518" cy="4525963"/>
          </a:xfrm>
        </p:spPr>
        <p:txBody>
          <a:bodyPr>
            <a:normAutofit fontScale="85000" lnSpcReduction="10000"/>
          </a:bodyPr>
          <a:lstStyle/>
          <a:p>
            <a:r>
              <a:rPr lang="fr-FR" dirty="0"/>
              <a:t>La DTD est délimitée, à l'intérieur d'un document, par la balise !DOCTYPE.</a:t>
            </a:r>
          </a:p>
          <a:p>
            <a:r>
              <a:rPr lang="fr-FR" dirty="0"/>
              <a:t>Syntaxe pour la déclaration du contenu des éléments #PCDATA : </a:t>
            </a:r>
            <a:r>
              <a:rPr lang="fr-FR" dirty="0" err="1"/>
              <a:t>parsed</a:t>
            </a:r>
            <a:r>
              <a:rPr lang="fr-FR" dirty="0"/>
              <a:t> </a:t>
            </a:r>
            <a:r>
              <a:rPr lang="fr-FR" dirty="0" err="1"/>
              <a:t>character</a:t>
            </a:r>
            <a:r>
              <a:rPr lang="fr-FR" dirty="0"/>
              <a:t> data, représente un seul élément texte (sans quantificateur).</a:t>
            </a:r>
          </a:p>
          <a:p>
            <a:r>
              <a:rPr lang="fr-FR" dirty="0"/>
              <a:t>| : permet d'ajouter des éléments prédéfinis au PCDATA.</a:t>
            </a:r>
          </a:p>
          <a:p>
            <a:r>
              <a:rPr lang="fr-FR" dirty="0"/>
              <a:t>" : définit la valeur par défaut du PCDATA.</a:t>
            </a:r>
          </a:p>
          <a:p>
            <a:r>
              <a:rPr lang="fr-FR" dirty="0"/>
              <a:t>* : quantificateur zéro ou plus.</a:t>
            </a:r>
          </a:p>
          <a:p>
            <a:r>
              <a:rPr lang="fr-FR" dirty="0"/>
              <a:t>+ : quantificateur un ou plus.</a:t>
            </a:r>
          </a:p>
          <a:p>
            <a:r>
              <a:rPr lang="fr-FR" dirty="0"/>
              <a:t>? : quantificateur zéro ou un.</a:t>
            </a:r>
          </a:p>
          <a:p>
            <a:pPr>
              <a:buNone/>
            </a:pPr>
            <a:endParaRPr lang="fr-FR" dirty="0"/>
          </a:p>
        </p:txBody>
      </p:sp>
      <p:sp>
        <p:nvSpPr>
          <p:cNvPr id="4" name="Titre 1"/>
          <p:cNvSpPr>
            <a:spLocks noGrp="1"/>
          </p:cNvSpPr>
          <p:nvPr>
            <p:ph type="title"/>
          </p:nvPr>
        </p:nvSpPr>
        <p:spPr/>
        <p:txBody>
          <a:bodyPr/>
          <a:lstStyle/>
          <a:p>
            <a:r>
              <a:rPr lang="fr-FR" dirty="0"/>
              <a:t>DTD(9)</a:t>
            </a:r>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1018</Words>
  <Application>Microsoft Office PowerPoint</Application>
  <PresentationFormat>Affichage à l'écran (4:3)</PresentationFormat>
  <Paragraphs>102</Paragraphs>
  <Slides>12</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12</vt:i4>
      </vt:variant>
    </vt:vector>
  </HeadingPairs>
  <TitlesOfParts>
    <vt:vector size="15" baseType="lpstr">
      <vt:lpstr>Arial</vt:lpstr>
      <vt:lpstr>Calibri</vt:lpstr>
      <vt:lpstr>Thème Office</vt:lpstr>
      <vt:lpstr>Document Type Definitions (DTD)</vt:lpstr>
      <vt:lpstr>DTD(1)</vt:lpstr>
      <vt:lpstr>DTD(2)</vt:lpstr>
      <vt:lpstr>DTD(2)</vt:lpstr>
      <vt:lpstr>DTD(3)</vt:lpstr>
      <vt:lpstr>DTD(4)</vt:lpstr>
      <vt:lpstr>Présentation PowerPoint</vt:lpstr>
      <vt:lpstr>DTD(5)</vt:lpstr>
      <vt:lpstr>DTD(6)</vt:lpstr>
      <vt:lpstr>DTD(7)</vt:lpstr>
      <vt:lpstr>DTD(8)</vt:lpstr>
      <vt:lpstr>DTD(9)</vt:lpstr>
    </vt:vector>
  </TitlesOfParts>
  <Company>sari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XML, XSL et Document Type Definitions (DTD)</dc:title>
  <dc:creator>sari</dc:creator>
  <cp:lastModifiedBy>SELOUGHA Mohamed Achraf</cp:lastModifiedBy>
  <cp:revision>11</cp:revision>
  <dcterms:created xsi:type="dcterms:W3CDTF">2018-03-19T07:46:46Z</dcterms:created>
  <dcterms:modified xsi:type="dcterms:W3CDTF">2024-05-14T22:18:43Z</dcterms:modified>
</cp:coreProperties>
</file>